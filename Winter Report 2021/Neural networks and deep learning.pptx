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4" r:id="rId1"/>
  </p:sldMasterIdLst>
  <p:sldIdLst>
    <p:sldId id="256" r:id="rId2"/>
    <p:sldId id="275" r:id="rId3"/>
    <p:sldId id="276" r:id="rId4"/>
    <p:sldId id="277" r:id="rId5"/>
    <p:sldId id="278" r:id="rId6"/>
    <p:sldId id="279" r:id="rId7"/>
    <p:sldId id="280" r:id="rId8"/>
    <p:sldId id="281" r:id="rId9"/>
    <p:sldId id="282" r:id="rId10"/>
    <p:sldId id="283" r:id="rId11"/>
    <p:sldId id="285" r:id="rId12"/>
    <p:sldId id="284" r:id="rId13"/>
    <p:sldId id="289" r:id="rId14"/>
    <p:sldId id="290" r:id="rId15"/>
    <p:sldId id="268"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60"/>
  </p:normalViewPr>
  <p:slideViewPr>
    <p:cSldViewPr snapToGrid="0">
      <p:cViewPr varScale="1">
        <p:scale>
          <a:sx n="94" d="100"/>
          <a:sy n="94" d="100"/>
        </p:scale>
        <p:origin x="110"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DDA51639-B2D6-4652-B8C3-1B4C224A7BAF}" type="datetimeFigureOut">
              <a:rPr lang="en-US" smtClean="0"/>
              <a:t>6/15/2021</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1276458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F5DD9-2C52-442D-92E2-8072C0C3D7CD}" type="datetimeFigureOut">
              <a:rPr lang="en-US" smtClean="0"/>
              <a:t>6/15/2021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00544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C44961B7-6B89-48AB-966F-622E2788EECC}" type="datetimeFigureOut">
              <a:rPr lang="en-US" smtClean="0"/>
              <a:t>6/15/2021</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883711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smtClean="0"/>
              <a:t>6/15/2021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51595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smtClean="0"/>
              <a:t>6/15/2021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41513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smtClean="0"/>
              <a:t>6/15/2021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86381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smtClean="0"/>
              <a:t>6/15/2021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25514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smtClean="0"/>
              <a:t>6/15/2021</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6728" y="6227064"/>
            <a:ext cx="1463040" cy="256032"/>
          </a:xfrm>
        </p:spPr>
        <p:txBody>
          <a:bodyPr/>
          <a:lstStyle/>
          <a:p>
            <a:fld id="{4FAB73BC-B049-4115-A692-8D63A059BFB8}" type="slidenum">
              <a:rPr lang="en-US" smtClean="0"/>
              <a:pPr/>
              <a:t>‹#›</a:t>
            </a:fld>
            <a:endParaRPr lang="en-US" dirty="0"/>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7219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AB334A90-EB03-42F3-8859-2C2B2724C058}" type="datetimeFigureOut">
              <a:rPr lang="en-US" smtClean="0"/>
              <a:t>6/15/2021</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56032"/>
          </a:xfrm>
        </p:spPr>
        <p:txBody>
          <a:bodyPr/>
          <a:lstStyle/>
          <a:p>
            <a:fld id="{4FAB73BC-B049-4115-A692-8D63A059BFB8}" type="slidenum">
              <a:rPr lang="en-US" smtClean="0"/>
              <a:pPr/>
              <a:t>‹#›</a:t>
            </a:fld>
            <a:endParaRPr lang="en-US" dirty="0"/>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12615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smtClean="0"/>
              <a:t>6/15/2021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3057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smtClean="0"/>
              <a:t>6/15/2021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71963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smtClean="0"/>
              <a:t>6/15/2021</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4000601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matplotlib.org/" TargetMode="External"/><Relationship Id="rId2" Type="http://schemas.openxmlformats.org/officeDocument/2006/relationships/hyperlink" Target="https://www.numpy.org/" TargetMode="External"/><Relationship Id="rId1" Type="http://schemas.openxmlformats.org/officeDocument/2006/relationships/slideLayout" Target="../slideLayouts/slideLayout2.xml"/><Relationship Id="rId6" Type="http://schemas.openxmlformats.org/officeDocument/2006/relationships/hyperlink" Target="https://www.scipy.org/" TargetMode="External"/><Relationship Id="rId5" Type="http://schemas.openxmlformats.org/officeDocument/2006/relationships/hyperlink" Target="http://www.pythonware.com/products/pil/" TargetMode="External"/><Relationship Id="rId4" Type="http://schemas.openxmlformats.org/officeDocument/2006/relationships/hyperlink" Target="http://www.h5py.org/"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F17A8-1F1E-4D91-A87E-6FFC33D13AAB}"/>
              </a:ext>
            </a:extLst>
          </p:cNvPr>
          <p:cNvSpPr>
            <a:spLocks noGrp="1"/>
          </p:cNvSpPr>
          <p:nvPr>
            <p:ph type="ctrTitle"/>
          </p:nvPr>
        </p:nvSpPr>
        <p:spPr>
          <a:xfrm>
            <a:off x="1106446" y="1293889"/>
            <a:ext cx="9866813" cy="2787758"/>
          </a:xfrm>
        </p:spPr>
        <p:txBody>
          <a:bodyPr/>
          <a:lstStyle/>
          <a:p>
            <a:r>
              <a:rPr lang="en-IN" sz="4000" b="0" i="0" u="none" strike="noStrike" baseline="0" dirty="0">
                <a:solidFill>
                  <a:schemeClr val="accent1">
                    <a:lumMod val="75000"/>
                  </a:schemeClr>
                </a:solidFill>
                <a:latin typeface="Arial" panose="020B0604020202020204" pitchFamily="34" charset="0"/>
              </a:rPr>
              <a:t>NEURAL NETWORKS AND DEEP LEARNING</a:t>
            </a:r>
            <a:endParaRPr lang="en-IN" sz="16600" dirty="0">
              <a:solidFill>
                <a:schemeClr val="accent1">
                  <a:lumMod val="75000"/>
                </a:schemeClr>
              </a:solidFill>
            </a:endParaRPr>
          </a:p>
        </p:txBody>
      </p:sp>
      <p:sp>
        <p:nvSpPr>
          <p:cNvPr id="3" name="Subtitle 2">
            <a:extLst>
              <a:ext uri="{FF2B5EF4-FFF2-40B4-BE49-F238E27FC236}">
                <a16:creationId xmlns:a16="http://schemas.microsoft.com/office/drawing/2014/main" id="{6A498A63-BB87-4C5D-84C6-DCF50B7887C4}"/>
              </a:ext>
            </a:extLst>
          </p:cNvPr>
          <p:cNvSpPr>
            <a:spLocks noGrp="1"/>
          </p:cNvSpPr>
          <p:nvPr>
            <p:ph type="subTitle" idx="1"/>
          </p:nvPr>
        </p:nvSpPr>
        <p:spPr>
          <a:xfrm>
            <a:off x="1369329" y="4081647"/>
            <a:ext cx="6353910" cy="630578"/>
          </a:xfrm>
        </p:spPr>
        <p:txBody>
          <a:bodyPr>
            <a:normAutofit fontScale="25000" lnSpcReduction="20000"/>
          </a:bodyPr>
          <a:lstStyle/>
          <a:p>
            <a:pPr algn="l"/>
            <a:endParaRPr lang="en-IN" b="0" i="0" u="none" strike="noStrike" baseline="0" dirty="0">
              <a:solidFill>
                <a:srgbClr val="000000"/>
              </a:solidFill>
              <a:latin typeface="Arial" panose="020B0604020202020204" pitchFamily="34" charset="0"/>
            </a:endParaRPr>
          </a:p>
          <a:p>
            <a:pPr algn="l"/>
            <a:r>
              <a:rPr lang="en-IN" sz="8000" b="0" i="0" u="none" strike="noStrike" baseline="0" dirty="0">
                <a:solidFill>
                  <a:srgbClr val="000000"/>
                </a:solidFill>
                <a:latin typeface="Arial" panose="020B0604020202020204" pitchFamily="34" charset="0"/>
              </a:rPr>
              <a:t> </a:t>
            </a:r>
            <a:r>
              <a:rPr lang="en-IN" sz="7200" b="1" i="0" u="sng" strike="noStrike" baseline="0" dirty="0">
                <a:solidFill>
                  <a:schemeClr val="accent1">
                    <a:lumMod val="75000"/>
                  </a:schemeClr>
                </a:solidFill>
                <a:latin typeface="Arial" panose="020B0604020202020204" pitchFamily="34" charset="0"/>
              </a:rPr>
              <a:t>Submitted by</a:t>
            </a:r>
            <a:r>
              <a:rPr lang="en-IN" sz="7200" b="1" i="0" u="none" strike="noStrike" baseline="0" dirty="0">
                <a:solidFill>
                  <a:schemeClr val="accent1">
                    <a:lumMod val="75000"/>
                  </a:schemeClr>
                </a:solidFill>
                <a:latin typeface="Arial" panose="020B0604020202020204" pitchFamily="34" charset="0"/>
              </a:rPr>
              <a:t>:</a:t>
            </a:r>
          </a:p>
          <a:p>
            <a:pPr algn="l"/>
            <a:endParaRPr lang="en-IN" sz="8000" b="0" i="0" u="none" strike="noStrike" baseline="0" dirty="0">
              <a:solidFill>
                <a:schemeClr val="accent1">
                  <a:lumMod val="75000"/>
                </a:schemeClr>
              </a:solidFill>
              <a:latin typeface="Arial" panose="020B0604020202020204" pitchFamily="34" charset="0"/>
            </a:endParaRPr>
          </a:p>
          <a:p>
            <a:r>
              <a:rPr lang="en-IN" sz="8000" i="0" u="none" strike="noStrike" baseline="0" dirty="0">
                <a:solidFill>
                  <a:srgbClr val="000000"/>
                </a:solidFill>
                <a:latin typeface="Arial" panose="020B0604020202020204" pitchFamily="34" charset="0"/>
              </a:rPr>
              <a:t>MAYANK CHOUDHARY</a:t>
            </a:r>
          </a:p>
          <a:p>
            <a:r>
              <a:rPr lang="en-IN" sz="8000" i="0" u="none" strike="noStrike" baseline="0" dirty="0">
                <a:solidFill>
                  <a:schemeClr val="accent5">
                    <a:lumMod val="60000"/>
                    <a:lumOff val="40000"/>
                  </a:schemeClr>
                </a:solidFill>
                <a:latin typeface="Arial" panose="020B0604020202020204" pitchFamily="34" charset="0"/>
              </a:rPr>
              <a:t>Roll. No</a:t>
            </a:r>
            <a:r>
              <a:rPr lang="en-IN" sz="8000" i="0" u="none" strike="noStrike" baseline="0" dirty="0">
                <a:solidFill>
                  <a:srgbClr val="000000"/>
                </a:solidFill>
                <a:latin typeface="Arial" panose="020B0604020202020204" pitchFamily="34" charset="0"/>
              </a:rPr>
              <a:t>. </a:t>
            </a:r>
            <a:r>
              <a:rPr lang="en-IN" sz="8000" b="0" i="0" u="none" strike="noStrike" baseline="0" dirty="0">
                <a:solidFill>
                  <a:srgbClr val="000000"/>
                </a:solidFill>
                <a:latin typeface="Arial" panose="020B0604020202020204" pitchFamily="34" charset="0"/>
              </a:rPr>
              <a:t>35515002818</a:t>
            </a:r>
          </a:p>
          <a:p>
            <a:r>
              <a:rPr lang="en-IN" sz="8000" b="0" i="0" u="none" strike="noStrike" baseline="0" dirty="0">
                <a:solidFill>
                  <a:schemeClr val="accent5">
                    <a:lumMod val="60000"/>
                    <a:lumOff val="40000"/>
                  </a:schemeClr>
                </a:solidFill>
                <a:latin typeface="Arial" panose="020B0604020202020204" pitchFamily="34" charset="0"/>
              </a:rPr>
              <a:t>Serial no</a:t>
            </a:r>
            <a:r>
              <a:rPr lang="en-IN" sz="8000" b="0" i="0" u="none" strike="noStrike" baseline="0" dirty="0">
                <a:solidFill>
                  <a:srgbClr val="000000"/>
                </a:solidFill>
                <a:latin typeface="Arial" panose="020B0604020202020204" pitchFamily="34" charset="0"/>
              </a:rPr>
              <a:t>. 57    ECE-1</a:t>
            </a:r>
          </a:p>
          <a:p>
            <a:endParaRPr lang="en-IN" sz="9600" dirty="0">
              <a:solidFill>
                <a:srgbClr val="000000"/>
              </a:solidFill>
              <a:latin typeface="Arial" panose="020B0604020202020204" pitchFamily="34" charset="0"/>
            </a:endParaRPr>
          </a:p>
          <a:p>
            <a:endParaRPr lang="en-IN" dirty="0"/>
          </a:p>
        </p:txBody>
      </p:sp>
      <p:pic>
        <p:nvPicPr>
          <p:cNvPr id="5" name="Picture 4">
            <a:extLst>
              <a:ext uri="{FF2B5EF4-FFF2-40B4-BE49-F238E27FC236}">
                <a16:creationId xmlns:a16="http://schemas.microsoft.com/office/drawing/2014/main" id="{BA4B6AB1-21F1-4B6D-BC20-AE29F2E6C6C6}"/>
              </a:ext>
            </a:extLst>
          </p:cNvPr>
          <p:cNvPicPr>
            <a:picLocks noChangeAspect="1"/>
          </p:cNvPicPr>
          <p:nvPr/>
        </p:nvPicPr>
        <p:blipFill>
          <a:blip r:embed="rId2"/>
          <a:stretch>
            <a:fillRect/>
          </a:stretch>
        </p:blipFill>
        <p:spPr>
          <a:xfrm>
            <a:off x="9436963" y="4081647"/>
            <a:ext cx="1270299" cy="1200830"/>
          </a:xfrm>
          <a:prstGeom prst="rect">
            <a:avLst/>
          </a:prstGeom>
        </p:spPr>
      </p:pic>
    </p:spTree>
    <p:extLst>
      <p:ext uri="{BB962C8B-B14F-4D97-AF65-F5344CB8AC3E}">
        <p14:creationId xmlns:p14="http://schemas.microsoft.com/office/powerpoint/2010/main" val="3176667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FA537D-AD18-400A-B7F0-4D173B404B4D}"/>
              </a:ext>
            </a:extLst>
          </p:cNvPr>
          <p:cNvSpPr txBox="1"/>
          <p:nvPr/>
        </p:nvSpPr>
        <p:spPr>
          <a:xfrm>
            <a:off x="767443" y="636814"/>
            <a:ext cx="7811179" cy="523220"/>
          </a:xfrm>
          <a:prstGeom prst="rect">
            <a:avLst/>
          </a:prstGeom>
          <a:noFill/>
        </p:spPr>
        <p:txBody>
          <a:bodyPr wrap="square">
            <a:spAutoFit/>
          </a:bodyPr>
          <a:lstStyle/>
          <a:p>
            <a:pPr algn="ctr"/>
            <a:r>
              <a:rPr lang="en-IN" sz="2800" b="1" i="0" dirty="0">
                <a:solidFill>
                  <a:schemeClr val="accent1">
                    <a:lumMod val="75000"/>
                  </a:schemeClr>
                </a:solidFill>
                <a:effectLst/>
                <a:latin typeface="-apple-system"/>
              </a:rPr>
              <a:t>What are neural networks?</a:t>
            </a:r>
          </a:p>
        </p:txBody>
      </p:sp>
      <p:sp>
        <p:nvSpPr>
          <p:cNvPr id="9" name="TextBox 8">
            <a:extLst>
              <a:ext uri="{FF2B5EF4-FFF2-40B4-BE49-F238E27FC236}">
                <a16:creationId xmlns:a16="http://schemas.microsoft.com/office/drawing/2014/main" id="{B104B029-299F-43E0-A555-F64D98E492B6}"/>
              </a:ext>
            </a:extLst>
          </p:cNvPr>
          <p:cNvSpPr txBox="1"/>
          <p:nvPr/>
        </p:nvSpPr>
        <p:spPr>
          <a:xfrm>
            <a:off x="767443" y="1543050"/>
            <a:ext cx="5535386" cy="3970318"/>
          </a:xfrm>
          <a:prstGeom prst="rect">
            <a:avLst/>
          </a:prstGeom>
          <a:noFill/>
        </p:spPr>
        <p:txBody>
          <a:bodyPr wrap="square">
            <a:spAutoFit/>
          </a:bodyPr>
          <a:lstStyle/>
          <a:p>
            <a:r>
              <a:rPr lang="en-US" b="0" i="0" dirty="0">
                <a:solidFill>
                  <a:srgbClr val="24292E"/>
                </a:solidFill>
                <a:effectLst/>
                <a:latin typeface="-apple-system"/>
              </a:rPr>
              <a:t>Neural networks, also known as artificial neural networks (ANNs) or simulated neural net-works (SNNs), are a subset of machine learning and are at the heart of deep learn-</a:t>
            </a:r>
            <a:r>
              <a:rPr lang="en-US" b="0" i="0" dirty="0" err="1">
                <a:solidFill>
                  <a:srgbClr val="24292E"/>
                </a:solidFill>
                <a:effectLst/>
                <a:latin typeface="-apple-system"/>
              </a:rPr>
              <a:t>ing</a:t>
            </a:r>
            <a:r>
              <a:rPr lang="en-US" b="0" i="0" dirty="0">
                <a:solidFill>
                  <a:srgbClr val="24292E"/>
                </a:solidFill>
                <a:effectLst/>
                <a:latin typeface="-apple-system"/>
              </a:rPr>
              <a:t> algorithms. Their name and structure are inspired by the human brain, mimicking the way that biological neurons signal to one another. Artificial neural networks (ANNs) are comprised of a node layers, containing an input layer, one or more hidden layers, and an output layer. Each node, or artificial neuron, connects to another and has an associated weight and threshold. If the output of any individual node is above the specified threshold value, that node is activated, sending data to the next layer of the network. Otherwise, no data is passed along to the next layer of the net-work.</a:t>
            </a:r>
            <a:endParaRPr lang="en-IN" dirty="0"/>
          </a:p>
        </p:txBody>
      </p:sp>
      <p:pic>
        <p:nvPicPr>
          <p:cNvPr id="1026" name="Picture 2">
            <a:extLst>
              <a:ext uri="{FF2B5EF4-FFF2-40B4-BE49-F238E27FC236}">
                <a16:creationId xmlns:a16="http://schemas.microsoft.com/office/drawing/2014/main" id="{B8DEB687-F633-4613-B291-1EBA9F397D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0033" y="1671739"/>
            <a:ext cx="4924524" cy="3781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178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E454AC-436B-4611-9470-89E5081CF893}"/>
              </a:ext>
            </a:extLst>
          </p:cNvPr>
          <p:cNvSpPr txBox="1"/>
          <p:nvPr/>
        </p:nvSpPr>
        <p:spPr>
          <a:xfrm>
            <a:off x="1969634" y="966499"/>
            <a:ext cx="8423501" cy="523220"/>
          </a:xfrm>
          <a:prstGeom prst="rect">
            <a:avLst/>
          </a:prstGeom>
          <a:noFill/>
        </p:spPr>
        <p:txBody>
          <a:bodyPr wrap="square">
            <a:spAutoFit/>
          </a:bodyPr>
          <a:lstStyle/>
          <a:p>
            <a:pPr algn="ctr"/>
            <a:r>
              <a:rPr lang="en-US" sz="2800" b="1" i="0" dirty="0">
                <a:solidFill>
                  <a:schemeClr val="accent1">
                    <a:lumMod val="75000"/>
                  </a:schemeClr>
                </a:solidFill>
                <a:effectLst/>
                <a:latin typeface="-apple-system"/>
              </a:rPr>
              <a:t>Different types of Neural Networks in Deep Learning</a:t>
            </a:r>
          </a:p>
        </p:txBody>
      </p:sp>
      <p:pic>
        <p:nvPicPr>
          <p:cNvPr id="2050" name="Picture 2" descr="image">
            <a:extLst>
              <a:ext uri="{FF2B5EF4-FFF2-40B4-BE49-F238E27FC236}">
                <a16:creationId xmlns:a16="http://schemas.microsoft.com/office/drawing/2014/main" id="{C9654BD6-A0E9-4F0C-B606-7FE2F9D2C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907" y="2105705"/>
            <a:ext cx="6124575" cy="18954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A5DD434-2B71-4223-96A5-252E83585E04}"/>
              </a:ext>
            </a:extLst>
          </p:cNvPr>
          <p:cNvSpPr txBox="1"/>
          <p:nvPr/>
        </p:nvSpPr>
        <p:spPr>
          <a:xfrm>
            <a:off x="1030741" y="4477728"/>
            <a:ext cx="6094638" cy="923330"/>
          </a:xfrm>
          <a:prstGeom prst="rect">
            <a:avLst/>
          </a:prstGeom>
          <a:noFill/>
        </p:spPr>
        <p:txBody>
          <a:bodyPr wrap="square">
            <a:spAutoFit/>
          </a:bodyPr>
          <a:lstStyle/>
          <a:p>
            <a:pPr algn="l">
              <a:buFont typeface="Arial" panose="020B0604020202020204" pitchFamily="34" charset="0"/>
              <a:buChar char="•"/>
            </a:pPr>
            <a:r>
              <a:rPr lang="en-IN" b="0" i="0" dirty="0">
                <a:solidFill>
                  <a:srgbClr val="202124"/>
                </a:solidFill>
                <a:effectLst/>
                <a:latin typeface="arial" panose="020B0604020202020204" pitchFamily="34" charset="0"/>
              </a:rPr>
              <a:t>Artificial </a:t>
            </a:r>
            <a:r>
              <a:rPr lang="en-IN" b="1" i="0" dirty="0">
                <a:solidFill>
                  <a:srgbClr val="202124"/>
                </a:solidFill>
                <a:effectLst/>
                <a:latin typeface="arial" panose="020B0604020202020204" pitchFamily="34" charset="0"/>
              </a:rPr>
              <a:t>Neural Networks</a:t>
            </a:r>
            <a:r>
              <a:rPr lang="en-IN" b="0" i="0" dirty="0">
                <a:solidFill>
                  <a:srgbClr val="202124"/>
                </a:solidFill>
                <a:effectLst/>
                <a:latin typeface="arial" panose="020B0604020202020204" pitchFamily="34" charset="0"/>
              </a:rPr>
              <a:t> (ANN)</a:t>
            </a:r>
          </a:p>
          <a:p>
            <a:pPr algn="l">
              <a:buFont typeface="Arial" panose="020B0604020202020204" pitchFamily="34" charset="0"/>
              <a:buChar char="•"/>
            </a:pPr>
            <a:r>
              <a:rPr lang="en-IN" b="0" i="0" dirty="0">
                <a:solidFill>
                  <a:srgbClr val="202124"/>
                </a:solidFill>
                <a:effectLst/>
                <a:latin typeface="arial" panose="020B0604020202020204" pitchFamily="34" charset="0"/>
              </a:rPr>
              <a:t>Convolution </a:t>
            </a:r>
            <a:r>
              <a:rPr lang="en-IN" b="1" i="0" dirty="0">
                <a:solidFill>
                  <a:srgbClr val="202124"/>
                </a:solidFill>
                <a:effectLst/>
                <a:latin typeface="arial" panose="020B0604020202020204" pitchFamily="34" charset="0"/>
              </a:rPr>
              <a:t>Neural Networks</a:t>
            </a:r>
            <a:r>
              <a:rPr lang="en-IN" b="0" i="0" dirty="0">
                <a:solidFill>
                  <a:srgbClr val="202124"/>
                </a:solidFill>
                <a:effectLst/>
                <a:latin typeface="arial" panose="020B0604020202020204" pitchFamily="34" charset="0"/>
              </a:rPr>
              <a:t> (CNN)</a:t>
            </a:r>
          </a:p>
          <a:p>
            <a:pPr algn="l">
              <a:buFont typeface="Arial" panose="020B0604020202020204" pitchFamily="34" charset="0"/>
              <a:buChar char="•"/>
            </a:pPr>
            <a:r>
              <a:rPr lang="en-IN" b="0" i="0" dirty="0">
                <a:solidFill>
                  <a:srgbClr val="202124"/>
                </a:solidFill>
                <a:effectLst/>
                <a:latin typeface="arial" panose="020B0604020202020204" pitchFamily="34" charset="0"/>
              </a:rPr>
              <a:t>Recurrent </a:t>
            </a:r>
            <a:r>
              <a:rPr lang="en-IN" b="1" i="0" dirty="0">
                <a:solidFill>
                  <a:srgbClr val="202124"/>
                </a:solidFill>
                <a:effectLst/>
                <a:latin typeface="arial" panose="020B0604020202020204" pitchFamily="34" charset="0"/>
              </a:rPr>
              <a:t>Neural Networks</a:t>
            </a:r>
            <a:r>
              <a:rPr lang="en-IN" b="0" i="0" dirty="0">
                <a:solidFill>
                  <a:srgbClr val="202124"/>
                </a:solidFill>
                <a:effectLst/>
                <a:latin typeface="arial" panose="020B0604020202020204" pitchFamily="34" charset="0"/>
              </a:rPr>
              <a:t> (RNN)</a:t>
            </a:r>
          </a:p>
        </p:txBody>
      </p:sp>
    </p:spTree>
    <p:extLst>
      <p:ext uri="{BB962C8B-B14F-4D97-AF65-F5344CB8AC3E}">
        <p14:creationId xmlns:p14="http://schemas.microsoft.com/office/powerpoint/2010/main" val="2880576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85226D0-333A-42ED-9658-5B4AE9C8608B}"/>
              </a:ext>
            </a:extLst>
          </p:cNvPr>
          <p:cNvSpPr txBox="1"/>
          <p:nvPr/>
        </p:nvSpPr>
        <p:spPr>
          <a:xfrm>
            <a:off x="2312534" y="844035"/>
            <a:ext cx="7777163" cy="523220"/>
          </a:xfrm>
          <a:prstGeom prst="rect">
            <a:avLst/>
          </a:prstGeom>
          <a:noFill/>
        </p:spPr>
        <p:txBody>
          <a:bodyPr wrap="square">
            <a:spAutoFit/>
          </a:bodyPr>
          <a:lstStyle/>
          <a:p>
            <a:pPr algn="ctr"/>
            <a:r>
              <a:rPr lang="en-US" sz="2800" b="1" i="0" dirty="0">
                <a:solidFill>
                  <a:schemeClr val="accent1">
                    <a:lumMod val="75000"/>
                  </a:schemeClr>
                </a:solidFill>
                <a:effectLst/>
                <a:latin typeface="-apple-system"/>
              </a:rPr>
              <a:t>Standard/Artificial Neural Network (ANN)</a:t>
            </a:r>
          </a:p>
        </p:txBody>
      </p:sp>
      <p:sp>
        <p:nvSpPr>
          <p:cNvPr id="8" name="TextBox 7">
            <a:extLst>
              <a:ext uri="{FF2B5EF4-FFF2-40B4-BE49-F238E27FC236}">
                <a16:creationId xmlns:a16="http://schemas.microsoft.com/office/drawing/2014/main" id="{366FDE75-0DB8-42DF-A00B-C9DD2ED0543A}"/>
              </a:ext>
            </a:extLst>
          </p:cNvPr>
          <p:cNvSpPr txBox="1"/>
          <p:nvPr/>
        </p:nvSpPr>
        <p:spPr>
          <a:xfrm>
            <a:off x="634775" y="2228671"/>
            <a:ext cx="7027408" cy="1631216"/>
          </a:xfrm>
          <a:prstGeom prst="rect">
            <a:avLst/>
          </a:prstGeom>
          <a:noFill/>
        </p:spPr>
        <p:txBody>
          <a:bodyPr wrap="square">
            <a:spAutoFit/>
          </a:bodyPr>
          <a:lstStyle/>
          <a:p>
            <a:r>
              <a:rPr lang="en-US" sz="2000" b="0" i="0" dirty="0">
                <a:solidFill>
                  <a:srgbClr val="24292E"/>
                </a:solidFill>
                <a:effectLst/>
                <a:latin typeface="-apple-system"/>
              </a:rPr>
              <a:t>A single perceptron (or neuron) can be imagined as a Logistic Regression. Artificial Neural Network, or ANN, is a group of multiple </a:t>
            </a:r>
            <a:r>
              <a:rPr lang="en-US" sz="2000" b="0" i="0" dirty="0" err="1">
                <a:solidFill>
                  <a:srgbClr val="24292E"/>
                </a:solidFill>
                <a:effectLst/>
                <a:latin typeface="-apple-system"/>
              </a:rPr>
              <a:t>perceptrons</a:t>
            </a:r>
            <a:r>
              <a:rPr lang="en-US" sz="2000" b="0" i="0" dirty="0">
                <a:solidFill>
                  <a:srgbClr val="24292E"/>
                </a:solidFill>
                <a:effectLst/>
                <a:latin typeface="-apple-system"/>
              </a:rPr>
              <a:t>/ neurons at each layer. ANN is also known as a Feed-Forward Neural network because inputs are processed only in the forward direction:</a:t>
            </a:r>
            <a:endParaRPr lang="en-IN" sz="2000" dirty="0"/>
          </a:p>
        </p:txBody>
      </p:sp>
      <p:pic>
        <p:nvPicPr>
          <p:cNvPr id="3077" name="Picture 5" descr="image">
            <a:extLst>
              <a:ext uri="{FF2B5EF4-FFF2-40B4-BE49-F238E27FC236}">
                <a16:creationId xmlns:a16="http://schemas.microsoft.com/office/drawing/2014/main" id="{467B94A9-80B8-461A-A19D-0386D1A20B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129" y="2378528"/>
            <a:ext cx="4477576" cy="2520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18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4C6C38-A82C-4AD3-BD37-63641C022CF0}"/>
              </a:ext>
            </a:extLst>
          </p:cNvPr>
          <p:cNvSpPr txBox="1"/>
          <p:nvPr/>
        </p:nvSpPr>
        <p:spPr>
          <a:xfrm>
            <a:off x="1022579" y="1659731"/>
            <a:ext cx="3867830" cy="3693319"/>
          </a:xfrm>
          <a:prstGeom prst="rect">
            <a:avLst/>
          </a:prstGeom>
          <a:noFill/>
        </p:spPr>
        <p:txBody>
          <a:bodyPr wrap="square">
            <a:spAutoFit/>
          </a:bodyPr>
          <a:lstStyle/>
          <a:p>
            <a:r>
              <a:rPr lang="en-US" b="0" i="0" dirty="0">
                <a:solidFill>
                  <a:srgbClr val="24292E"/>
                </a:solidFill>
                <a:effectLst/>
                <a:latin typeface="-apple-system"/>
              </a:rPr>
              <a:t>Artificial Neural Network is capable of learning any nonlinear function. Hence, these networks are popularly known as Universal Function Approximators. ANNs have the capacity to learn weights that map any input to the output. One of the main reasons behind universal approximation is the activation function. Activation functions introduce nonlinear properties to the network. This helps the network learn any complex relationship between input and output.</a:t>
            </a:r>
            <a:endParaRPr lang="en-IN" dirty="0"/>
          </a:p>
        </p:txBody>
      </p:sp>
      <p:pic>
        <p:nvPicPr>
          <p:cNvPr id="4098" name="Picture 2" descr="image">
            <a:extLst>
              <a:ext uri="{FF2B5EF4-FFF2-40B4-BE49-F238E27FC236}">
                <a16:creationId xmlns:a16="http://schemas.microsoft.com/office/drawing/2014/main" id="{17A931AD-93A1-4BF9-9696-5BEF1B581C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7336" y="1659731"/>
            <a:ext cx="5733327" cy="3538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326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B9BCA8-53DD-4ACE-A1DD-506F95D17AD9}"/>
              </a:ext>
            </a:extLst>
          </p:cNvPr>
          <p:cNvSpPr txBox="1"/>
          <p:nvPr/>
        </p:nvSpPr>
        <p:spPr>
          <a:xfrm>
            <a:off x="3048681" y="1097127"/>
            <a:ext cx="6094638" cy="523220"/>
          </a:xfrm>
          <a:prstGeom prst="rect">
            <a:avLst/>
          </a:prstGeom>
          <a:noFill/>
        </p:spPr>
        <p:txBody>
          <a:bodyPr wrap="square">
            <a:spAutoFit/>
          </a:bodyPr>
          <a:lstStyle/>
          <a:p>
            <a:pPr algn="ctr"/>
            <a:r>
              <a:rPr lang="en-IN" sz="2800" b="1" i="0" dirty="0">
                <a:solidFill>
                  <a:schemeClr val="accent1">
                    <a:lumMod val="75000"/>
                  </a:schemeClr>
                </a:solidFill>
                <a:effectLst/>
                <a:latin typeface="-apple-system"/>
              </a:rPr>
              <a:t>Recurrent Neural Network (RNN)</a:t>
            </a:r>
          </a:p>
        </p:txBody>
      </p:sp>
      <p:sp>
        <p:nvSpPr>
          <p:cNvPr id="5" name="TextBox 4">
            <a:extLst>
              <a:ext uri="{FF2B5EF4-FFF2-40B4-BE49-F238E27FC236}">
                <a16:creationId xmlns:a16="http://schemas.microsoft.com/office/drawing/2014/main" id="{64895BDD-D15C-4723-A3B8-B0FAF50C4273}"/>
              </a:ext>
            </a:extLst>
          </p:cNvPr>
          <p:cNvSpPr txBox="1"/>
          <p:nvPr/>
        </p:nvSpPr>
        <p:spPr>
          <a:xfrm>
            <a:off x="1096055" y="2166937"/>
            <a:ext cx="4480152" cy="2862322"/>
          </a:xfrm>
          <a:prstGeom prst="rect">
            <a:avLst/>
          </a:prstGeom>
          <a:noFill/>
        </p:spPr>
        <p:txBody>
          <a:bodyPr wrap="square">
            <a:spAutoFit/>
          </a:bodyPr>
          <a:lstStyle/>
          <a:p>
            <a:pPr algn="l"/>
            <a:r>
              <a:rPr lang="en-US" b="0" i="0" dirty="0">
                <a:solidFill>
                  <a:srgbClr val="24292E"/>
                </a:solidFill>
                <a:effectLst/>
                <a:latin typeface="-apple-system"/>
              </a:rPr>
              <a:t>A looping constraint on the hidden layer of ANN turns to RNN. • RNN captures the sequential information present in the input data i.e. dependency be-tween the words in the text while making predictions:</a:t>
            </a:r>
          </a:p>
          <a:p>
            <a:pPr algn="l"/>
            <a:r>
              <a:rPr lang="en-US" b="0" i="0" dirty="0">
                <a:solidFill>
                  <a:srgbClr val="24292E"/>
                </a:solidFill>
                <a:effectLst/>
                <a:latin typeface="-apple-system"/>
              </a:rPr>
              <a:t>• RNNs share the parameters across different time steps. This is popularly known as Parameter Sharing. This results in fewer parameters to train and decreases the computational cost</a:t>
            </a:r>
          </a:p>
        </p:txBody>
      </p:sp>
      <p:pic>
        <p:nvPicPr>
          <p:cNvPr id="5122" name="Picture 2" descr="image">
            <a:extLst>
              <a:ext uri="{FF2B5EF4-FFF2-40B4-BE49-F238E27FC236}">
                <a16:creationId xmlns:a16="http://schemas.microsoft.com/office/drawing/2014/main" id="{3DA2C293-4461-4BD0-8CC3-F6E2D1DBD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5331" y="2166937"/>
            <a:ext cx="4733925" cy="252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901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F3F4C9-6F46-4F9E-845B-7430785AE414}"/>
              </a:ext>
            </a:extLst>
          </p:cNvPr>
          <p:cNvSpPr txBox="1"/>
          <p:nvPr/>
        </p:nvSpPr>
        <p:spPr>
          <a:xfrm>
            <a:off x="3048681" y="818116"/>
            <a:ext cx="6094638" cy="523220"/>
          </a:xfrm>
          <a:prstGeom prst="rect">
            <a:avLst/>
          </a:prstGeom>
          <a:noFill/>
        </p:spPr>
        <p:txBody>
          <a:bodyPr wrap="square">
            <a:spAutoFit/>
          </a:bodyPr>
          <a:lstStyle/>
          <a:p>
            <a:pPr algn="ctr"/>
            <a:r>
              <a:rPr lang="en-IN" sz="2800" b="1" i="0" dirty="0">
                <a:solidFill>
                  <a:schemeClr val="accent1">
                    <a:lumMod val="75000"/>
                  </a:schemeClr>
                </a:solidFill>
                <a:effectLst/>
                <a:latin typeface="-apple-system"/>
              </a:rPr>
              <a:t>Convolution Neural Network (CNN)</a:t>
            </a:r>
          </a:p>
        </p:txBody>
      </p:sp>
      <p:sp>
        <p:nvSpPr>
          <p:cNvPr id="7" name="TextBox 6">
            <a:extLst>
              <a:ext uri="{FF2B5EF4-FFF2-40B4-BE49-F238E27FC236}">
                <a16:creationId xmlns:a16="http://schemas.microsoft.com/office/drawing/2014/main" id="{F490E96A-4695-46C6-BCEA-8BCBDF4F03CF}"/>
              </a:ext>
            </a:extLst>
          </p:cNvPr>
          <p:cNvSpPr txBox="1"/>
          <p:nvPr/>
        </p:nvSpPr>
        <p:spPr>
          <a:xfrm>
            <a:off x="510269" y="1778283"/>
            <a:ext cx="6094638" cy="3693319"/>
          </a:xfrm>
          <a:prstGeom prst="rect">
            <a:avLst/>
          </a:prstGeom>
          <a:noFill/>
        </p:spPr>
        <p:txBody>
          <a:bodyPr wrap="square">
            <a:spAutoFit/>
          </a:bodyPr>
          <a:lstStyle/>
          <a:p>
            <a:pPr algn="l"/>
            <a:r>
              <a:rPr lang="en-US" b="0" i="0" dirty="0">
                <a:solidFill>
                  <a:srgbClr val="24292E"/>
                </a:solidFill>
                <a:effectLst/>
                <a:latin typeface="-apple-system"/>
              </a:rPr>
              <a:t>Convolutional neural networks (CNN) are all the rage in the deep learning community right now. These CNN models are being used across different applications and domains, and they’re especially prevalent in image and video processing projects.</a:t>
            </a:r>
          </a:p>
          <a:p>
            <a:pPr algn="l"/>
            <a:r>
              <a:rPr lang="en-US" b="0" i="0" dirty="0">
                <a:solidFill>
                  <a:srgbClr val="24292E"/>
                </a:solidFill>
                <a:effectLst/>
                <a:latin typeface="-apple-system"/>
              </a:rPr>
              <a:t>• CNN learns the filters automatically without mentioning it explicitly. These filters help in extracting the right and relevant features from the input data. • CNN captures the spatial features from an image. Spatial features refer to the </a:t>
            </a:r>
            <a:r>
              <a:rPr lang="en-US" b="0" i="0" dirty="0" err="1">
                <a:solidFill>
                  <a:srgbClr val="24292E"/>
                </a:solidFill>
                <a:effectLst/>
                <a:latin typeface="-apple-system"/>
              </a:rPr>
              <a:t>ar-rangement</a:t>
            </a:r>
            <a:r>
              <a:rPr lang="en-US" b="0" i="0" dirty="0">
                <a:solidFill>
                  <a:srgbClr val="24292E"/>
                </a:solidFill>
                <a:effectLst/>
                <a:latin typeface="-apple-system"/>
              </a:rPr>
              <a:t> of pixels and the relationship between them in an image. They help us in identifying the object accurately, the location of an object, as well as its relation with other objects in an image.</a:t>
            </a:r>
          </a:p>
        </p:txBody>
      </p:sp>
      <p:pic>
        <p:nvPicPr>
          <p:cNvPr id="9" name="Picture 8" descr="CNN - Image Classification">
            <a:extLst>
              <a:ext uri="{FF2B5EF4-FFF2-40B4-BE49-F238E27FC236}">
                <a16:creationId xmlns:a16="http://schemas.microsoft.com/office/drawing/2014/main" id="{AE0FB3DC-C6F6-42F7-98D4-9E5D75EFAA95}"/>
              </a:ext>
            </a:extLst>
          </p:cNvPr>
          <p:cNvPicPr/>
          <p:nvPr/>
        </p:nvPicPr>
        <p:blipFill>
          <a:blip r:embed="rId2"/>
          <a:srcRect/>
          <a:stretch>
            <a:fillRect/>
          </a:stretch>
        </p:blipFill>
        <p:spPr>
          <a:xfrm>
            <a:off x="6604907" y="2155371"/>
            <a:ext cx="5159829" cy="2617674"/>
          </a:xfrm>
          <a:prstGeom prst="rect">
            <a:avLst/>
          </a:prstGeom>
          <a:noFill/>
          <a:ln>
            <a:noFill/>
            <a:prstDash/>
          </a:ln>
        </p:spPr>
      </p:pic>
    </p:spTree>
    <p:extLst>
      <p:ext uri="{BB962C8B-B14F-4D97-AF65-F5344CB8AC3E}">
        <p14:creationId xmlns:p14="http://schemas.microsoft.com/office/powerpoint/2010/main" val="1943574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6A4201-8224-4BDE-9B85-5F766539DA2C}"/>
              </a:ext>
            </a:extLst>
          </p:cNvPr>
          <p:cNvSpPr txBox="1"/>
          <p:nvPr/>
        </p:nvSpPr>
        <p:spPr>
          <a:xfrm>
            <a:off x="3048681" y="797834"/>
            <a:ext cx="6094638" cy="523220"/>
          </a:xfrm>
          <a:prstGeom prst="rect">
            <a:avLst/>
          </a:prstGeom>
          <a:noFill/>
        </p:spPr>
        <p:txBody>
          <a:bodyPr wrap="square">
            <a:spAutoFit/>
          </a:bodyPr>
          <a:lstStyle/>
          <a:p>
            <a:pPr algn="l"/>
            <a:r>
              <a:rPr lang="en-US" sz="2800" b="1" i="0" dirty="0">
                <a:solidFill>
                  <a:schemeClr val="accent1">
                    <a:lumMod val="75000"/>
                  </a:schemeClr>
                </a:solidFill>
                <a:effectLst/>
                <a:latin typeface="-apple-system"/>
              </a:rPr>
              <a:t>Logistic Regression as a Neural Network</a:t>
            </a:r>
          </a:p>
        </p:txBody>
      </p:sp>
      <p:sp>
        <p:nvSpPr>
          <p:cNvPr id="5" name="TextBox 4">
            <a:extLst>
              <a:ext uri="{FF2B5EF4-FFF2-40B4-BE49-F238E27FC236}">
                <a16:creationId xmlns:a16="http://schemas.microsoft.com/office/drawing/2014/main" id="{01F9493A-3C52-4CEA-BD37-BF8F6C1D3DBE}"/>
              </a:ext>
            </a:extLst>
          </p:cNvPr>
          <p:cNvSpPr txBox="1"/>
          <p:nvPr/>
        </p:nvSpPr>
        <p:spPr>
          <a:xfrm>
            <a:off x="459241" y="1670974"/>
            <a:ext cx="6094638" cy="2585323"/>
          </a:xfrm>
          <a:prstGeom prst="rect">
            <a:avLst/>
          </a:prstGeom>
          <a:noFill/>
        </p:spPr>
        <p:txBody>
          <a:bodyPr wrap="square">
            <a:spAutoFit/>
          </a:bodyPr>
          <a:lstStyle/>
          <a:p>
            <a:r>
              <a:rPr lang="en-US" b="0" i="0" dirty="0">
                <a:solidFill>
                  <a:srgbClr val="24292E"/>
                </a:solidFill>
                <a:effectLst/>
                <a:latin typeface="-apple-system"/>
              </a:rPr>
              <a:t>Logistic regression is a binary classification method. It can be modelled as a function that can take in any number of inputs and constrain the output to be between 0 and 1. This means, we can think of Logistic Regression as a one-layer neural network. For a binary output, if the true label is y (y = 0 or y = 1) and </a:t>
            </a:r>
            <a:r>
              <a:rPr lang="en-US" b="0" i="0" dirty="0" err="1">
                <a:solidFill>
                  <a:srgbClr val="24292E"/>
                </a:solidFill>
                <a:effectLst/>
                <a:latin typeface="-apple-system"/>
              </a:rPr>
              <a:t>y_hat</a:t>
            </a:r>
            <a:r>
              <a:rPr lang="en-US" b="0" i="0" dirty="0">
                <a:solidFill>
                  <a:srgbClr val="24292E"/>
                </a:solidFill>
                <a:effectLst/>
                <a:latin typeface="-apple-system"/>
              </a:rPr>
              <a:t> is the predicted output – then </a:t>
            </a:r>
            <a:r>
              <a:rPr lang="en-US" b="0" i="0" dirty="0" err="1">
                <a:solidFill>
                  <a:srgbClr val="24292E"/>
                </a:solidFill>
                <a:effectLst/>
                <a:latin typeface="-apple-system"/>
              </a:rPr>
              <a:t>y_hat</a:t>
            </a:r>
            <a:r>
              <a:rPr lang="en-US" b="0" i="0" dirty="0">
                <a:solidFill>
                  <a:srgbClr val="24292E"/>
                </a:solidFill>
                <a:effectLst/>
                <a:latin typeface="-apple-system"/>
              </a:rPr>
              <a:t> represents the probability that y = 1 - given inputs w and x. Therefore, the probability that y = 0 given inputs w and x is (1 - </a:t>
            </a:r>
            <a:r>
              <a:rPr lang="en-US" b="0" i="0" dirty="0" err="1">
                <a:solidFill>
                  <a:srgbClr val="24292E"/>
                </a:solidFill>
                <a:effectLst/>
                <a:latin typeface="-apple-system"/>
              </a:rPr>
              <a:t>y_hat</a:t>
            </a:r>
            <a:r>
              <a:rPr lang="en-US" b="0" i="0" dirty="0">
                <a:solidFill>
                  <a:srgbClr val="24292E"/>
                </a:solidFill>
                <a:effectLst/>
                <a:latin typeface="-apple-system"/>
              </a:rPr>
              <a:t>), as shown below.</a:t>
            </a:r>
            <a:endParaRPr lang="en-IN" dirty="0"/>
          </a:p>
        </p:txBody>
      </p:sp>
      <p:pic>
        <p:nvPicPr>
          <p:cNvPr id="7170" name="Picture 2" descr="image">
            <a:extLst>
              <a:ext uri="{FF2B5EF4-FFF2-40B4-BE49-F238E27FC236}">
                <a16:creationId xmlns:a16="http://schemas.microsoft.com/office/drawing/2014/main" id="{71055177-63B5-42A1-9064-99C6A9F4B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1151" y="4432917"/>
            <a:ext cx="4181475" cy="7905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a:extLst>
              <a:ext uri="{FF2B5EF4-FFF2-40B4-BE49-F238E27FC236}">
                <a16:creationId xmlns:a16="http://schemas.microsoft.com/office/drawing/2014/main" id="{2897A96F-4006-4826-8E94-2583BBAC3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2333" y="2171700"/>
            <a:ext cx="4521972" cy="2084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9382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7AA24A-674B-4DAC-BB16-422E06B31A3F}"/>
              </a:ext>
            </a:extLst>
          </p:cNvPr>
          <p:cNvSpPr txBox="1"/>
          <p:nvPr/>
        </p:nvSpPr>
        <p:spPr>
          <a:xfrm>
            <a:off x="3048681" y="868528"/>
            <a:ext cx="6094638" cy="523220"/>
          </a:xfrm>
          <a:prstGeom prst="rect">
            <a:avLst/>
          </a:prstGeom>
          <a:noFill/>
        </p:spPr>
        <p:txBody>
          <a:bodyPr wrap="square">
            <a:spAutoFit/>
          </a:bodyPr>
          <a:lstStyle/>
          <a:p>
            <a:pPr algn="ctr"/>
            <a:r>
              <a:rPr lang="en-IN" sz="2800" b="1" i="0" dirty="0">
                <a:solidFill>
                  <a:schemeClr val="accent1">
                    <a:lumMod val="75000"/>
                  </a:schemeClr>
                </a:solidFill>
                <a:effectLst/>
                <a:latin typeface="-apple-system"/>
              </a:rPr>
              <a:t>What is a Gradient?</a:t>
            </a:r>
          </a:p>
        </p:txBody>
      </p:sp>
      <p:sp>
        <p:nvSpPr>
          <p:cNvPr id="7" name="TextBox 6">
            <a:extLst>
              <a:ext uri="{FF2B5EF4-FFF2-40B4-BE49-F238E27FC236}">
                <a16:creationId xmlns:a16="http://schemas.microsoft.com/office/drawing/2014/main" id="{A9B5EFE9-9F3A-462B-A4D7-AC7D014D867B}"/>
              </a:ext>
            </a:extLst>
          </p:cNvPr>
          <p:cNvSpPr txBox="1"/>
          <p:nvPr/>
        </p:nvSpPr>
        <p:spPr>
          <a:xfrm>
            <a:off x="777648" y="2274838"/>
            <a:ext cx="6094638" cy="2308324"/>
          </a:xfrm>
          <a:prstGeom prst="rect">
            <a:avLst/>
          </a:prstGeom>
          <a:noFill/>
        </p:spPr>
        <p:txBody>
          <a:bodyPr wrap="square">
            <a:spAutoFit/>
          </a:bodyPr>
          <a:lstStyle/>
          <a:p>
            <a:r>
              <a:rPr lang="en-US" b="0" i="0" dirty="0">
                <a:solidFill>
                  <a:srgbClr val="24292E"/>
                </a:solidFill>
                <a:effectLst/>
                <a:latin typeface="-apple-system"/>
              </a:rPr>
              <a:t>A gradient measures how much the output of a function changes if you change the inputs a little bit It simply measures the change in all weights with regard to the change in error. You can also think of a gradient as the slope of a function. The higher the gradient, the steeper the slope and the faster a model can learn. But if the slope is zero, the model stops learning. Said it more mathematically, a gradient is a partial derivative with respect to its inputs.</a:t>
            </a:r>
            <a:endParaRPr lang="en-IN" dirty="0"/>
          </a:p>
        </p:txBody>
      </p:sp>
      <p:pic>
        <p:nvPicPr>
          <p:cNvPr id="8194" name="Picture 2" descr="image">
            <a:extLst>
              <a:ext uri="{FF2B5EF4-FFF2-40B4-BE49-F238E27FC236}">
                <a16:creationId xmlns:a16="http://schemas.microsoft.com/office/drawing/2014/main" id="{E1279EB3-BA22-4B9E-B4EF-ED02C5F53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5320" y="2503775"/>
            <a:ext cx="4975998" cy="1850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493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5BBD75-7004-4E1E-B88A-7AAEFF536849}"/>
              </a:ext>
            </a:extLst>
          </p:cNvPr>
          <p:cNvSpPr txBox="1"/>
          <p:nvPr/>
        </p:nvSpPr>
        <p:spPr>
          <a:xfrm>
            <a:off x="3051731" y="1015483"/>
            <a:ext cx="6094638" cy="523220"/>
          </a:xfrm>
          <a:prstGeom prst="rect">
            <a:avLst/>
          </a:prstGeom>
          <a:noFill/>
        </p:spPr>
        <p:txBody>
          <a:bodyPr wrap="square">
            <a:spAutoFit/>
          </a:bodyPr>
          <a:lstStyle/>
          <a:p>
            <a:pPr algn="ctr"/>
            <a:r>
              <a:rPr lang="en-IN" sz="2800" b="1" i="0" dirty="0">
                <a:solidFill>
                  <a:schemeClr val="accent1">
                    <a:lumMod val="75000"/>
                  </a:schemeClr>
                </a:solidFill>
                <a:effectLst/>
                <a:latin typeface="-apple-system"/>
              </a:rPr>
              <a:t>What is Vectorization ?</a:t>
            </a:r>
          </a:p>
        </p:txBody>
      </p:sp>
      <p:sp>
        <p:nvSpPr>
          <p:cNvPr id="5" name="TextBox 4">
            <a:extLst>
              <a:ext uri="{FF2B5EF4-FFF2-40B4-BE49-F238E27FC236}">
                <a16:creationId xmlns:a16="http://schemas.microsoft.com/office/drawing/2014/main" id="{40A0FACF-1CD5-4BBE-A951-2BD0D4BF978E}"/>
              </a:ext>
            </a:extLst>
          </p:cNvPr>
          <p:cNvSpPr txBox="1"/>
          <p:nvPr/>
        </p:nvSpPr>
        <p:spPr>
          <a:xfrm>
            <a:off x="598034" y="2234310"/>
            <a:ext cx="6094638" cy="2585323"/>
          </a:xfrm>
          <a:prstGeom prst="rect">
            <a:avLst/>
          </a:prstGeom>
          <a:noFill/>
        </p:spPr>
        <p:txBody>
          <a:bodyPr wrap="square">
            <a:spAutoFit/>
          </a:bodyPr>
          <a:lstStyle/>
          <a:p>
            <a:r>
              <a:rPr lang="en-US" b="0" i="0" dirty="0">
                <a:solidFill>
                  <a:srgbClr val="24292E"/>
                </a:solidFill>
                <a:effectLst/>
                <a:latin typeface="-apple-system"/>
              </a:rPr>
              <a:t>Vectorization is used to speed up the Python code without using loop. Using such a function can help in minimizing the running time of code efficiently. Various operations are being performed over vector such as dot product of vectors which is also known as scalar product as it produces single output, outer products which results in square matrix of dimension equal to length X length of the vectors, Element wise multiplication which products the element of same indexes and dimension of the matrix remain unchanged.</a:t>
            </a:r>
            <a:endParaRPr lang="en-IN" dirty="0"/>
          </a:p>
        </p:txBody>
      </p:sp>
      <p:pic>
        <p:nvPicPr>
          <p:cNvPr id="9218" name="Picture 2" descr="image">
            <a:extLst>
              <a:ext uri="{FF2B5EF4-FFF2-40B4-BE49-F238E27FC236}">
                <a16:creationId xmlns:a16="http://schemas.microsoft.com/office/drawing/2014/main" id="{1C6231ED-FA51-43EE-95F5-1936EC2FB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6742" y="1877786"/>
            <a:ext cx="5099255" cy="2784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36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E44890-F9E3-4980-BD02-067CE2D59CC2}"/>
              </a:ext>
            </a:extLst>
          </p:cNvPr>
          <p:cNvSpPr txBox="1"/>
          <p:nvPr/>
        </p:nvSpPr>
        <p:spPr>
          <a:xfrm>
            <a:off x="3113996" y="2034788"/>
            <a:ext cx="6094638" cy="646331"/>
          </a:xfrm>
          <a:prstGeom prst="rect">
            <a:avLst/>
          </a:prstGeom>
          <a:noFill/>
        </p:spPr>
        <p:txBody>
          <a:bodyPr wrap="square">
            <a:spAutoFit/>
          </a:bodyPr>
          <a:lstStyle/>
          <a:p>
            <a:pPr>
              <a:spcBef>
                <a:spcPts val="500"/>
              </a:spcBef>
              <a:spcAft>
                <a:spcPts val="500"/>
              </a:spcAft>
            </a:pPr>
            <a:r>
              <a:rPr lang="en-IN" sz="1800" dirty="0">
                <a:solidFill>
                  <a:srgbClr val="000000"/>
                </a:solidFill>
                <a:effectLst/>
                <a:latin typeface="Helvetica Neue"/>
                <a:ea typeface="Times New Roman" panose="02020603050405020304" pitchFamily="18" charset="0"/>
              </a:rPr>
              <a:t>We reshape and standardize the images before feeding them to the network. The code is given in the cell below.</a:t>
            </a:r>
            <a:endParaRPr lang="en-IN" sz="24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161BD6F3-C84B-478B-A140-AC3123D13C38}"/>
              </a:ext>
            </a:extLst>
          </p:cNvPr>
          <p:cNvPicPr/>
          <p:nvPr/>
        </p:nvPicPr>
        <p:blipFill>
          <a:blip r:embed="rId2"/>
          <a:stretch>
            <a:fillRect/>
          </a:stretch>
        </p:blipFill>
        <p:spPr>
          <a:xfrm>
            <a:off x="3284424" y="2796771"/>
            <a:ext cx="5623151" cy="2905550"/>
          </a:xfrm>
          <a:prstGeom prst="rect">
            <a:avLst/>
          </a:prstGeom>
          <a:noFill/>
          <a:ln>
            <a:noFill/>
            <a:prstDash/>
          </a:ln>
        </p:spPr>
      </p:pic>
      <p:sp>
        <p:nvSpPr>
          <p:cNvPr id="6" name="TextBox 5">
            <a:extLst>
              <a:ext uri="{FF2B5EF4-FFF2-40B4-BE49-F238E27FC236}">
                <a16:creationId xmlns:a16="http://schemas.microsoft.com/office/drawing/2014/main" id="{24EB82FA-4A7F-4B81-9F86-A3A1E3B22B9F}"/>
              </a:ext>
            </a:extLst>
          </p:cNvPr>
          <p:cNvSpPr txBox="1"/>
          <p:nvPr/>
        </p:nvSpPr>
        <p:spPr>
          <a:xfrm>
            <a:off x="4639356" y="5933624"/>
            <a:ext cx="6094638" cy="369332"/>
          </a:xfrm>
          <a:prstGeom prst="rect">
            <a:avLst/>
          </a:prstGeom>
          <a:noFill/>
        </p:spPr>
        <p:txBody>
          <a:bodyPr wrap="square">
            <a:spAutoFit/>
          </a:bodyPr>
          <a:lstStyle/>
          <a:p>
            <a:r>
              <a:rPr lang="en-IN" sz="1800" dirty="0">
                <a:solidFill>
                  <a:srgbClr val="000000"/>
                </a:solidFill>
                <a:effectLst/>
                <a:latin typeface="Helvetica Neue"/>
                <a:ea typeface="Noto Serif CJK SC"/>
                <a:cs typeface="Lohit Devanagari"/>
              </a:rPr>
              <a:t> Image to vector conversion</a:t>
            </a:r>
            <a:endParaRPr lang="en-IN" dirty="0"/>
          </a:p>
        </p:txBody>
      </p:sp>
      <p:sp>
        <p:nvSpPr>
          <p:cNvPr id="8" name="TextBox 7">
            <a:extLst>
              <a:ext uri="{FF2B5EF4-FFF2-40B4-BE49-F238E27FC236}">
                <a16:creationId xmlns:a16="http://schemas.microsoft.com/office/drawing/2014/main" id="{AC5FF4C7-419C-4F16-BE63-7D176ABFECE8}"/>
              </a:ext>
            </a:extLst>
          </p:cNvPr>
          <p:cNvSpPr txBox="1"/>
          <p:nvPr/>
        </p:nvSpPr>
        <p:spPr>
          <a:xfrm>
            <a:off x="3048681" y="739710"/>
            <a:ext cx="6094638" cy="954107"/>
          </a:xfrm>
          <a:prstGeom prst="rect">
            <a:avLst/>
          </a:prstGeom>
          <a:noFill/>
        </p:spPr>
        <p:txBody>
          <a:bodyPr wrap="square">
            <a:spAutoFit/>
          </a:bodyPr>
          <a:lstStyle/>
          <a:p>
            <a:pPr algn="ctr">
              <a:spcBef>
                <a:spcPts val="645"/>
              </a:spcBef>
              <a:spcAft>
                <a:spcPts val="600"/>
              </a:spcAft>
            </a:pPr>
            <a:r>
              <a:rPr lang="en-IN" sz="2800" b="1" kern="150" dirty="0">
                <a:solidFill>
                  <a:schemeClr val="accent1">
                    <a:lumMod val="75000"/>
                  </a:schemeClr>
                </a:solidFill>
                <a:effectLst/>
                <a:latin typeface="inherit"/>
              </a:rPr>
              <a:t>Deep Neural Network for Image Classification: Application</a:t>
            </a:r>
            <a:endParaRPr lang="en-IN" sz="2800" b="1" kern="150" dirty="0">
              <a:solidFill>
                <a:schemeClr val="accent1">
                  <a:lumMod val="75000"/>
                </a:schemeClr>
              </a:solidFill>
              <a:effectLst/>
              <a:latin typeface="Liberation Serif"/>
            </a:endParaRPr>
          </a:p>
        </p:txBody>
      </p:sp>
    </p:spTree>
    <p:extLst>
      <p:ext uri="{BB962C8B-B14F-4D97-AF65-F5344CB8AC3E}">
        <p14:creationId xmlns:p14="http://schemas.microsoft.com/office/powerpoint/2010/main" val="1899406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7AC02E-A514-4810-89C7-2F5B56D370FE}"/>
              </a:ext>
            </a:extLst>
          </p:cNvPr>
          <p:cNvSpPr txBox="1"/>
          <p:nvPr/>
        </p:nvSpPr>
        <p:spPr>
          <a:xfrm>
            <a:off x="2386011" y="1643896"/>
            <a:ext cx="7623401" cy="3570208"/>
          </a:xfrm>
          <a:prstGeom prst="rect">
            <a:avLst/>
          </a:prstGeom>
          <a:noFill/>
        </p:spPr>
        <p:txBody>
          <a:bodyPr wrap="square">
            <a:spAutoFit/>
          </a:bodyPr>
          <a:lstStyle/>
          <a:p>
            <a:pPr>
              <a:spcBef>
                <a:spcPts val="500"/>
              </a:spcBef>
              <a:spcAft>
                <a:spcPts val="500"/>
              </a:spcAft>
            </a:pPr>
            <a:r>
              <a:rPr lang="en-IN" sz="1600" dirty="0">
                <a:solidFill>
                  <a:srgbClr val="000000"/>
                </a:solidFill>
                <a:effectLst/>
                <a:latin typeface="Helvetica Neue"/>
                <a:ea typeface="Times New Roman" panose="02020603050405020304" pitchFamily="18" charset="0"/>
              </a:rPr>
              <a:t>Let's first import all the packages that you will need during this assignment.</a:t>
            </a:r>
            <a:endParaRPr lang="en-IN" sz="1600" dirty="0">
              <a:effectLst/>
              <a:latin typeface="Times New Roman" panose="02020603050405020304" pitchFamily="18" charset="0"/>
              <a:ea typeface="Times New Roman" panose="02020603050405020304" pitchFamily="18" charset="0"/>
            </a:endParaRPr>
          </a:p>
          <a:p>
            <a:pPr marL="342900" lvl="0" indent="-342900" fontAlgn="auto">
              <a:spcBef>
                <a:spcPts val="500"/>
              </a:spcBef>
              <a:spcAft>
                <a:spcPts val="500"/>
              </a:spcAft>
              <a:buSzPts val="1000"/>
              <a:buFont typeface="Wingdings" panose="05000000000000000000" pitchFamily="2" charset="2"/>
              <a:buChar char=""/>
            </a:pPr>
            <a:r>
              <a:rPr lang="en-IN" sz="1600" u="sng" kern="150" dirty="0" err="1">
                <a:solidFill>
                  <a:srgbClr val="337AB7"/>
                </a:solidFill>
                <a:effectLst/>
                <a:uFill>
                  <a:solidFill>
                    <a:srgbClr val="000000"/>
                  </a:solidFill>
                </a:uFill>
                <a:latin typeface="Helvetica Neue"/>
                <a:ea typeface="Noto Serif CJK SC"/>
                <a:cs typeface="Lohit Devanagari"/>
                <a:hlinkClick r:id="rId2"/>
              </a:rPr>
              <a:t>numpy</a:t>
            </a:r>
            <a:r>
              <a:rPr lang="en-IN" sz="1600" kern="150" dirty="0">
                <a:solidFill>
                  <a:srgbClr val="000000"/>
                </a:solidFill>
                <a:effectLst/>
                <a:latin typeface="Helvetica Neue"/>
                <a:ea typeface="Noto Serif CJK SC"/>
                <a:cs typeface="Lohit Devanagari"/>
              </a:rPr>
              <a:t> is the fundamental package for scientific computing with Python.</a:t>
            </a:r>
            <a:endParaRPr lang="en-IN" sz="1600" kern="150" dirty="0">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600" u="sng" kern="150" dirty="0">
                <a:solidFill>
                  <a:srgbClr val="337AB7"/>
                </a:solidFill>
                <a:effectLst/>
                <a:uFill>
                  <a:solidFill>
                    <a:srgbClr val="000000"/>
                  </a:solidFill>
                </a:uFill>
                <a:latin typeface="Helvetica Neue"/>
                <a:ea typeface="Noto Serif CJK SC"/>
                <a:cs typeface="Lohit Devanagari"/>
                <a:hlinkClick r:id="rId3"/>
              </a:rPr>
              <a:t>matplotlib</a:t>
            </a:r>
            <a:r>
              <a:rPr lang="en-IN" sz="1600" kern="150" dirty="0">
                <a:solidFill>
                  <a:srgbClr val="000000"/>
                </a:solidFill>
                <a:effectLst/>
                <a:latin typeface="Helvetica Neue"/>
                <a:ea typeface="Noto Serif CJK SC"/>
                <a:cs typeface="Lohit Devanagari"/>
              </a:rPr>
              <a:t> is a library to plot graphs in Python.</a:t>
            </a:r>
            <a:endParaRPr lang="en-IN" sz="1600" kern="150" dirty="0">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600" u="sng" kern="150" dirty="0">
                <a:solidFill>
                  <a:srgbClr val="337AB7"/>
                </a:solidFill>
                <a:effectLst/>
                <a:uFill>
                  <a:solidFill>
                    <a:srgbClr val="000000"/>
                  </a:solidFill>
                </a:uFill>
                <a:latin typeface="Helvetica Neue"/>
                <a:ea typeface="Noto Serif CJK SC"/>
                <a:cs typeface="Lohit Devanagari"/>
                <a:hlinkClick r:id="rId4"/>
              </a:rPr>
              <a:t>h5py</a:t>
            </a:r>
            <a:r>
              <a:rPr lang="en-IN" sz="1600" kern="150" dirty="0">
                <a:solidFill>
                  <a:srgbClr val="000000"/>
                </a:solidFill>
                <a:effectLst/>
                <a:latin typeface="Helvetica Neue"/>
                <a:ea typeface="Noto Serif CJK SC"/>
                <a:cs typeface="Lohit Devanagari"/>
              </a:rPr>
              <a:t> is a common package to interact with a dataset that is stored on an H5 file.</a:t>
            </a:r>
            <a:endParaRPr lang="en-IN" sz="1600" kern="150" dirty="0">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600" u="sng" kern="150" dirty="0">
                <a:solidFill>
                  <a:srgbClr val="337AB7"/>
                </a:solidFill>
                <a:effectLst/>
                <a:uFill>
                  <a:solidFill>
                    <a:srgbClr val="000000"/>
                  </a:solidFill>
                </a:uFill>
                <a:latin typeface="Helvetica Neue"/>
                <a:ea typeface="Noto Serif CJK SC"/>
                <a:cs typeface="Lohit Devanagari"/>
                <a:hlinkClick r:id="rId5"/>
              </a:rPr>
              <a:t>PIL</a:t>
            </a:r>
            <a:r>
              <a:rPr lang="en-IN" sz="1600" kern="150" dirty="0">
                <a:solidFill>
                  <a:srgbClr val="000000"/>
                </a:solidFill>
                <a:effectLst/>
                <a:latin typeface="Helvetica Neue"/>
                <a:ea typeface="Noto Serif CJK SC"/>
                <a:cs typeface="Lohit Devanagari"/>
              </a:rPr>
              <a:t> and </a:t>
            </a:r>
            <a:r>
              <a:rPr lang="en-IN" sz="1600" u="sng" kern="150" dirty="0" err="1">
                <a:solidFill>
                  <a:srgbClr val="337AB7"/>
                </a:solidFill>
                <a:effectLst/>
                <a:uFill>
                  <a:solidFill>
                    <a:srgbClr val="000000"/>
                  </a:solidFill>
                </a:uFill>
                <a:latin typeface="Helvetica Neue"/>
                <a:ea typeface="Noto Serif CJK SC"/>
                <a:cs typeface="Lohit Devanagari"/>
                <a:hlinkClick r:id="rId6"/>
              </a:rPr>
              <a:t>scipy</a:t>
            </a:r>
            <a:r>
              <a:rPr lang="en-IN" sz="1600" kern="150" dirty="0">
                <a:solidFill>
                  <a:srgbClr val="000000"/>
                </a:solidFill>
                <a:effectLst/>
                <a:latin typeface="Helvetica Neue"/>
                <a:ea typeface="Noto Serif CJK SC"/>
                <a:cs typeface="Lohit Devanagari"/>
              </a:rPr>
              <a:t> are used here to test your model with your own picture at the end.</a:t>
            </a:r>
            <a:endParaRPr lang="en-IN" sz="1600" kern="150" dirty="0">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600" kern="150" dirty="0" err="1">
                <a:solidFill>
                  <a:srgbClr val="000000"/>
                </a:solidFill>
                <a:effectLst/>
                <a:latin typeface="Helvetica Neue"/>
                <a:ea typeface="Noto Serif CJK SC"/>
                <a:cs typeface="Lohit Devanagari"/>
              </a:rPr>
              <a:t>dnn_app_utils</a:t>
            </a:r>
            <a:r>
              <a:rPr lang="en-IN" sz="1600" kern="150" dirty="0">
                <a:solidFill>
                  <a:srgbClr val="000000"/>
                </a:solidFill>
                <a:effectLst/>
                <a:latin typeface="Helvetica Neue"/>
                <a:ea typeface="Noto Serif CJK SC"/>
                <a:cs typeface="Lohit Devanagari"/>
              </a:rPr>
              <a:t> provides the functions implemented in the "Building your Deep Neural Network: Step by Step" assignment to this notebook.</a:t>
            </a:r>
            <a:endParaRPr lang="en-IN" sz="1600" kern="150" dirty="0">
              <a:solidFill>
                <a:srgbClr val="000000"/>
              </a:solidFill>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600" kern="150" dirty="0" err="1">
                <a:solidFill>
                  <a:srgbClr val="000000"/>
                </a:solidFill>
                <a:effectLst/>
                <a:latin typeface="Helvetica Neue"/>
                <a:ea typeface="Noto Serif CJK SC"/>
                <a:cs typeface="Lohit Devanagari"/>
              </a:rPr>
              <a:t>np.random.seed</a:t>
            </a:r>
            <a:r>
              <a:rPr lang="en-IN" sz="1600" kern="150" dirty="0">
                <a:solidFill>
                  <a:srgbClr val="000000"/>
                </a:solidFill>
                <a:effectLst/>
                <a:latin typeface="Helvetica Neue"/>
                <a:ea typeface="Noto Serif CJK SC"/>
                <a:cs typeface="Lohit Devanagari"/>
              </a:rPr>
              <a:t>(1) is used to keep all the random function calls consistent. It will help us grade your work.</a:t>
            </a:r>
            <a:endParaRPr lang="en-IN" sz="1600" kern="150" dirty="0">
              <a:solidFill>
                <a:srgbClr val="000000"/>
              </a:solidFill>
              <a:effectLst/>
              <a:latin typeface="Symbol" panose="05050102010706020507" pitchFamily="18" charset="2"/>
              <a:ea typeface="Noto Serif CJK SC"/>
              <a:cs typeface="Lohit Devanagari"/>
            </a:endParaRPr>
          </a:p>
        </p:txBody>
      </p:sp>
      <p:sp>
        <p:nvSpPr>
          <p:cNvPr id="7" name="TextBox 6">
            <a:extLst>
              <a:ext uri="{FF2B5EF4-FFF2-40B4-BE49-F238E27FC236}">
                <a16:creationId xmlns:a16="http://schemas.microsoft.com/office/drawing/2014/main" id="{576BCAA9-FD44-4E39-8883-AA1992B31008}"/>
              </a:ext>
            </a:extLst>
          </p:cNvPr>
          <p:cNvSpPr txBox="1"/>
          <p:nvPr/>
        </p:nvSpPr>
        <p:spPr>
          <a:xfrm>
            <a:off x="3048681" y="631763"/>
            <a:ext cx="6094638" cy="523220"/>
          </a:xfrm>
          <a:prstGeom prst="rect">
            <a:avLst/>
          </a:prstGeom>
          <a:noFill/>
        </p:spPr>
        <p:txBody>
          <a:bodyPr wrap="square">
            <a:spAutoFit/>
          </a:bodyPr>
          <a:lstStyle/>
          <a:p>
            <a:pPr algn="ctr">
              <a:spcBef>
                <a:spcPts val="765"/>
              </a:spcBef>
              <a:spcAft>
                <a:spcPts val="600"/>
              </a:spcAft>
            </a:pPr>
            <a:r>
              <a:rPr lang="en-IN" sz="2800" b="1" kern="150" dirty="0">
                <a:solidFill>
                  <a:schemeClr val="accent1">
                    <a:lumMod val="75000"/>
                  </a:schemeClr>
                </a:solidFill>
                <a:effectLst/>
                <a:latin typeface="inherit"/>
                <a:ea typeface="Noto Serif CJK SC"/>
                <a:cs typeface="Lohit Devanagari"/>
              </a:rPr>
              <a:t>Packages</a:t>
            </a:r>
            <a:endParaRPr lang="en-IN" sz="2800" b="1" kern="150" dirty="0">
              <a:solidFill>
                <a:schemeClr val="accent1">
                  <a:lumMod val="75000"/>
                </a:schemeClr>
              </a:solidFill>
              <a:effectLst/>
              <a:latin typeface="Liberation Serif"/>
              <a:ea typeface="Noto Serif CJK SC"/>
              <a:cs typeface="Lohit Devanagari"/>
            </a:endParaRPr>
          </a:p>
        </p:txBody>
      </p:sp>
    </p:spTree>
    <p:extLst>
      <p:ext uri="{BB962C8B-B14F-4D97-AF65-F5344CB8AC3E}">
        <p14:creationId xmlns:p14="http://schemas.microsoft.com/office/powerpoint/2010/main" val="3836588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22B829-C214-43EF-9C28-26373F919FA5}"/>
              </a:ext>
            </a:extLst>
          </p:cNvPr>
          <p:cNvSpPr txBox="1"/>
          <p:nvPr/>
        </p:nvSpPr>
        <p:spPr>
          <a:xfrm>
            <a:off x="2643188" y="680749"/>
            <a:ext cx="6094638" cy="523220"/>
          </a:xfrm>
          <a:prstGeom prst="rect">
            <a:avLst/>
          </a:prstGeom>
          <a:noFill/>
        </p:spPr>
        <p:txBody>
          <a:bodyPr wrap="square">
            <a:spAutoFit/>
          </a:bodyPr>
          <a:lstStyle/>
          <a:p>
            <a:pPr algn="ctr">
              <a:spcBef>
                <a:spcPts val="1860"/>
              </a:spcBef>
              <a:spcAft>
                <a:spcPts val="1400"/>
              </a:spcAft>
            </a:pPr>
            <a:r>
              <a:rPr lang="en-IN" sz="2800" b="1" kern="150" dirty="0">
                <a:solidFill>
                  <a:schemeClr val="accent1">
                    <a:lumMod val="75000"/>
                  </a:schemeClr>
                </a:solidFill>
                <a:latin typeface="inherit"/>
              </a:rPr>
              <a:t>2</a:t>
            </a:r>
            <a:r>
              <a:rPr lang="en-IN" sz="2800" b="1" kern="150" dirty="0">
                <a:solidFill>
                  <a:schemeClr val="accent1">
                    <a:lumMod val="75000"/>
                  </a:schemeClr>
                </a:solidFill>
                <a:effectLst/>
                <a:latin typeface="inherit"/>
              </a:rPr>
              <a:t>-layer deep neural network</a:t>
            </a:r>
            <a:endParaRPr lang="en-IN" sz="2800" b="1" kern="150" dirty="0">
              <a:solidFill>
                <a:schemeClr val="accent1">
                  <a:lumMod val="75000"/>
                </a:schemeClr>
              </a:solidFill>
              <a:effectLst/>
              <a:latin typeface="Liberation Serif"/>
            </a:endParaRPr>
          </a:p>
        </p:txBody>
      </p:sp>
      <p:sp>
        <p:nvSpPr>
          <p:cNvPr id="5" name="TextBox 4">
            <a:extLst>
              <a:ext uri="{FF2B5EF4-FFF2-40B4-BE49-F238E27FC236}">
                <a16:creationId xmlns:a16="http://schemas.microsoft.com/office/drawing/2014/main" id="{64382271-5C0F-48FC-9595-B4F7239600F3}"/>
              </a:ext>
            </a:extLst>
          </p:cNvPr>
          <p:cNvSpPr txBox="1"/>
          <p:nvPr/>
        </p:nvSpPr>
        <p:spPr>
          <a:xfrm>
            <a:off x="744989" y="1587248"/>
            <a:ext cx="10864623" cy="646331"/>
          </a:xfrm>
          <a:prstGeom prst="rect">
            <a:avLst/>
          </a:prstGeom>
          <a:noFill/>
        </p:spPr>
        <p:txBody>
          <a:bodyPr wrap="square">
            <a:spAutoFit/>
          </a:bodyPr>
          <a:lstStyle/>
          <a:p>
            <a:pPr>
              <a:spcBef>
                <a:spcPts val="1200"/>
              </a:spcBef>
              <a:spcAft>
                <a:spcPts val="500"/>
              </a:spcAft>
            </a:pPr>
            <a:r>
              <a:rPr lang="en-IN" dirty="0">
                <a:solidFill>
                  <a:srgbClr val="000000"/>
                </a:solidFill>
                <a:latin typeface="Helvetica Neue"/>
                <a:ea typeface="Times New Roman" panose="02020603050405020304" pitchFamily="18" charset="0"/>
              </a:rPr>
              <a:t>We will build a D</a:t>
            </a:r>
            <a:r>
              <a:rPr lang="en-IN" sz="1800" dirty="0">
                <a:solidFill>
                  <a:srgbClr val="000000"/>
                </a:solidFill>
                <a:effectLst/>
                <a:latin typeface="Helvetica Neue"/>
                <a:ea typeface="Times New Roman" panose="02020603050405020304" pitchFamily="18" charset="0"/>
              </a:rPr>
              <a:t>eep neural network to distinguish cat images from non-cat images. However, here is a simplified network representation:</a:t>
            </a:r>
            <a:endParaRPr lang="en-IN" sz="24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57247DF4-DA3D-4B0C-AA45-92005570C0EC}"/>
              </a:ext>
            </a:extLst>
          </p:cNvPr>
          <p:cNvSpPr txBox="1"/>
          <p:nvPr/>
        </p:nvSpPr>
        <p:spPr>
          <a:xfrm>
            <a:off x="6307681" y="2881466"/>
            <a:ext cx="4860290" cy="2870016"/>
          </a:xfrm>
          <a:prstGeom prst="rect">
            <a:avLst/>
          </a:prstGeom>
          <a:noFill/>
        </p:spPr>
        <p:txBody>
          <a:bodyPr wrap="square">
            <a:spAutoFit/>
          </a:bodyPr>
          <a:lstStyle/>
          <a:p>
            <a:pPr marL="342900" lvl="0" indent="-342900" fontAlgn="auto">
              <a:buSzPts val="1000"/>
              <a:buFont typeface="Wingdings" panose="05000000000000000000" pitchFamily="2" charset="2"/>
              <a:buChar char=""/>
            </a:pP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The input is a (64,64,3) image which is flattened to a vector of size </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(12288,1)</a:t>
            </a: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(12288,1).</a:t>
            </a:r>
            <a:endParaRPr lang="en-IN" sz="1400" kern="150" dirty="0">
              <a:effectLst/>
              <a:latin typeface="Symbol" panose="05050102010706020507" pitchFamily="18" charset="2"/>
              <a:ea typeface="Noto Serif CJK SC"/>
              <a:cs typeface="Lohit Devanagari"/>
            </a:endParaRPr>
          </a:p>
          <a:p>
            <a:pPr marL="342900" lvl="0" indent="-342900" fontAlgn="auto">
              <a:buSzPts val="1000"/>
              <a:buFont typeface="Wingdings" panose="05000000000000000000" pitchFamily="2" charset="2"/>
              <a:buChar char=""/>
            </a:pP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The corresponding vector: </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x</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0,</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x</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x</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12287]</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T</a:t>
            </a: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[x0,x1,...,x12287]T is then multiplied by the weight matrix </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W</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a:t>
            </a: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W[1] of size </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n</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[1],12288)</a:t>
            </a: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(n[1],12288).</a:t>
            </a:r>
            <a:endParaRPr lang="en-IN" sz="1400" kern="150" dirty="0">
              <a:effectLst/>
              <a:latin typeface="Symbol" panose="05050102010706020507" pitchFamily="18" charset="2"/>
              <a:ea typeface="Noto Serif CJK SC"/>
              <a:cs typeface="Lohit Devanagari"/>
            </a:endParaRPr>
          </a:p>
          <a:p>
            <a:pPr marL="342900" lvl="0" indent="-342900" fontAlgn="auto">
              <a:buSzPts val="1000"/>
              <a:buFont typeface="Wingdings" panose="05000000000000000000" pitchFamily="2" charset="2"/>
              <a:buChar char=""/>
            </a:pP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You then add a bias term and take its </a:t>
            </a:r>
            <a:r>
              <a:rPr lang="en-IN" sz="1400" kern="0" dirty="0" err="1">
                <a:solidFill>
                  <a:srgbClr val="000000"/>
                </a:solidFill>
                <a:effectLst/>
                <a:latin typeface="Helvetica Neue"/>
                <a:ea typeface="Times New Roman" panose="02020603050405020304" pitchFamily="18" charset="0"/>
                <a:cs typeface="Times New Roman" panose="02020603050405020304" pitchFamily="18" charset="0"/>
              </a:rPr>
              <a:t>relu</a:t>
            </a: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 to get the following vector: </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a</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[1]0,</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a</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[1]1,...,</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a</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n</a:t>
            </a:r>
            <a:r>
              <a:rPr lang="en-IN" sz="1400" kern="0" dirty="0">
                <a:solidFill>
                  <a:srgbClr val="000000"/>
                </a:solidFill>
                <a:effectLst/>
                <a:latin typeface="STIXMathJax_Main"/>
                <a:ea typeface="Times New Roman" panose="02020603050405020304" pitchFamily="18" charset="0"/>
                <a:cs typeface="Times New Roman" panose="02020603050405020304" pitchFamily="18" charset="0"/>
              </a:rPr>
              <a:t>[1]−1]</a:t>
            </a:r>
            <a:r>
              <a:rPr lang="en-IN" sz="1400" i="1" kern="0" dirty="0">
                <a:solidFill>
                  <a:srgbClr val="000000"/>
                </a:solidFill>
                <a:effectLst/>
                <a:latin typeface="STIXMathJax_Main-italic"/>
                <a:ea typeface="Times New Roman" panose="02020603050405020304" pitchFamily="18" charset="0"/>
                <a:cs typeface="Times New Roman" panose="02020603050405020304" pitchFamily="18" charset="0"/>
              </a:rPr>
              <a:t>T</a:t>
            </a: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[a0[1],a1[1],...,an[1]−1[1]]T.</a:t>
            </a:r>
            <a:endParaRPr lang="en-IN" sz="1400" kern="150" dirty="0">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400" kern="0" dirty="0">
                <a:solidFill>
                  <a:srgbClr val="000000"/>
                </a:solidFill>
                <a:effectLst/>
                <a:latin typeface="Helvetica Neue"/>
                <a:ea typeface="Times New Roman" panose="02020603050405020304" pitchFamily="18" charset="0"/>
                <a:cs typeface="Times New Roman" panose="02020603050405020304" pitchFamily="18" charset="0"/>
              </a:rPr>
              <a:t>You then repeat the same process.</a:t>
            </a:r>
            <a:endParaRPr lang="en-IN" sz="1400" kern="150" dirty="0">
              <a:solidFill>
                <a:srgbClr val="000000"/>
              </a:solidFill>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endParaRPr lang="en-IN" sz="1400" kern="150" dirty="0">
              <a:solidFill>
                <a:srgbClr val="000000"/>
              </a:solidFill>
              <a:effectLst/>
              <a:latin typeface="Symbol" panose="05050102010706020507" pitchFamily="18" charset="2"/>
              <a:ea typeface="Noto Serif CJK SC"/>
              <a:cs typeface="Lohit Devanagari"/>
            </a:endParaRPr>
          </a:p>
        </p:txBody>
      </p:sp>
      <p:pic>
        <p:nvPicPr>
          <p:cNvPr id="9" name="Picture 8">
            <a:extLst>
              <a:ext uri="{FF2B5EF4-FFF2-40B4-BE49-F238E27FC236}">
                <a16:creationId xmlns:a16="http://schemas.microsoft.com/office/drawing/2014/main" id="{F0482EC2-DB48-42A4-9072-7572ADD67A5D}"/>
              </a:ext>
            </a:extLst>
          </p:cNvPr>
          <p:cNvPicPr/>
          <p:nvPr/>
        </p:nvPicPr>
        <p:blipFill>
          <a:blip r:embed="rId2"/>
          <a:stretch>
            <a:fillRect/>
          </a:stretch>
        </p:blipFill>
        <p:spPr>
          <a:xfrm>
            <a:off x="888637" y="2353854"/>
            <a:ext cx="4801870" cy="3652520"/>
          </a:xfrm>
          <a:prstGeom prst="rect">
            <a:avLst/>
          </a:prstGeom>
          <a:noFill/>
          <a:ln>
            <a:noFill/>
            <a:prstDash/>
          </a:ln>
        </p:spPr>
      </p:pic>
    </p:spTree>
    <p:extLst>
      <p:ext uri="{BB962C8B-B14F-4D97-AF65-F5344CB8AC3E}">
        <p14:creationId xmlns:p14="http://schemas.microsoft.com/office/powerpoint/2010/main" val="953303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37D268-5A48-4171-93C2-E6B0D64752EE}"/>
              </a:ext>
            </a:extLst>
          </p:cNvPr>
          <p:cNvSpPr txBox="1"/>
          <p:nvPr/>
        </p:nvSpPr>
        <p:spPr>
          <a:xfrm>
            <a:off x="-300037" y="574612"/>
            <a:ext cx="6094638" cy="461665"/>
          </a:xfrm>
          <a:prstGeom prst="rect">
            <a:avLst/>
          </a:prstGeom>
          <a:noFill/>
        </p:spPr>
        <p:txBody>
          <a:bodyPr wrap="square">
            <a:spAutoFit/>
          </a:bodyPr>
          <a:lstStyle/>
          <a:p>
            <a:pPr algn="ctr"/>
            <a:r>
              <a:rPr lang="en-IN" sz="2400" dirty="0">
                <a:solidFill>
                  <a:srgbClr val="000000"/>
                </a:solidFill>
                <a:effectLst/>
                <a:latin typeface="inherit"/>
                <a:ea typeface="Noto Serif CJK SC"/>
                <a:cs typeface="Lohit Devanagari"/>
              </a:rPr>
              <a:t>Results Analysis</a:t>
            </a:r>
            <a:endParaRPr lang="en-IN" sz="2400" dirty="0"/>
          </a:p>
        </p:txBody>
      </p:sp>
      <p:sp>
        <p:nvSpPr>
          <p:cNvPr id="5" name="TextBox 4">
            <a:extLst>
              <a:ext uri="{FF2B5EF4-FFF2-40B4-BE49-F238E27FC236}">
                <a16:creationId xmlns:a16="http://schemas.microsoft.com/office/drawing/2014/main" id="{DE9A3086-D91C-4D84-B2C3-D24FF2288EB2}"/>
              </a:ext>
            </a:extLst>
          </p:cNvPr>
          <p:cNvSpPr txBox="1"/>
          <p:nvPr/>
        </p:nvSpPr>
        <p:spPr>
          <a:xfrm>
            <a:off x="817110" y="1163028"/>
            <a:ext cx="6094638" cy="923330"/>
          </a:xfrm>
          <a:prstGeom prst="rect">
            <a:avLst/>
          </a:prstGeom>
          <a:noFill/>
        </p:spPr>
        <p:txBody>
          <a:bodyPr wrap="square">
            <a:spAutoFit/>
          </a:bodyPr>
          <a:lstStyle/>
          <a:p>
            <a:pPr>
              <a:spcBef>
                <a:spcPts val="1200"/>
              </a:spcBef>
              <a:spcAft>
                <a:spcPts val="500"/>
              </a:spcAft>
            </a:pPr>
            <a:r>
              <a:rPr lang="en-IN" sz="1800" dirty="0">
                <a:solidFill>
                  <a:srgbClr val="000000"/>
                </a:solidFill>
                <a:effectLst/>
                <a:latin typeface="Helvetica Neue"/>
                <a:ea typeface="Times New Roman" panose="02020603050405020304" pitchFamily="18" charset="0"/>
              </a:rPr>
              <a:t>First, let's take a look at some images the L-layer model </a:t>
            </a:r>
            <a:r>
              <a:rPr lang="en-IN" sz="1800" dirty="0" err="1">
                <a:solidFill>
                  <a:srgbClr val="000000"/>
                </a:solidFill>
                <a:effectLst/>
                <a:latin typeface="Helvetica Neue"/>
                <a:ea typeface="Times New Roman" panose="02020603050405020304" pitchFamily="18" charset="0"/>
              </a:rPr>
              <a:t>labeled</a:t>
            </a:r>
            <a:r>
              <a:rPr lang="en-IN" sz="1800" dirty="0">
                <a:solidFill>
                  <a:srgbClr val="000000"/>
                </a:solidFill>
                <a:effectLst/>
                <a:latin typeface="Helvetica Neue"/>
                <a:ea typeface="Times New Roman" panose="02020603050405020304" pitchFamily="18" charset="0"/>
              </a:rPr>
              <a:t> incorrectly. This will show a few </a:t>
            </a:r>
            <a:r>
              <a:rPr lang="en-IN" sz="1800" dirty="0" err="1">
                <a:solidFill>
                  <a:srgbClr val="000000"/>
                </a:solidFill>
                <a:effectLst/>
                <a:latin typeface="Helvetica Neue"/>
                <a:ea typeface="Times New Roman" panose="02020603050405020304" pitchFamily="18" charset="0"/>
              </a:rPr>
              <a:t>mislabeled</a:t>
            </a:r>
            <a:r>
              <a:rPr lang="en-IN" sz="1800" dirty="0">
                <a:solidFill>
                  <a:srgbClr val="000000"/>
                </a:solidFill>
                <a:effectLst/>
                <a:latin typeface="Helvetica Neue"/>
                <a:ea typeface="Times New Roman" panose="02020603050405020304" pitchFamily="18" charset="0"/>
              </a:rPr>
              <a:t> images.</a:t>
            </a:r>
            <a:endParaRPr lang="en-IN" sz="2400"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E497B812-515C-4606-B458-0375B73A8C09}"/>
              </a:ext>
            </a:extLst>
          </p:cNvPr>
          <p:cNvPicPr/>
          <p:nvPr/>
        </p:nvPicPr>
        <p:blipFill>
          <a:blip r:embed="rId2"/>
          <a:srcRect/>
          <a:stretch>
            <a:fillRect/>
          </a:stretch>
        </p:blipFill>
        <p:spPr>
          <a:xfrm>
            <a:off x="465363" y="2213109"/>
            <a:ext cx="11119757" cy="1624694"/>
          </a:xfrm>
          <a:prstGeom prst="rect">
            <a:avLst/>
          </a:prstGeom>
          <a:noFill/>
          <a:ln>
            <a:noFill/>
            <a:prstDash/>
          </a:ln>
        </p:spPr>
      </p:pic>
      <p:sp>
        <p:nvSpPr>
          <p:cNvPr id="8" name="TextBox 7">
            <a:extLst>
              <a:ext uri="{FF2B5EF4-FFF2-40B4-BE49-F238E27FC236}">
                <a16:creationId xmlns:a16="http://schemas.microsoft.com/office/drawing/2014/main" id="{CA5B596B-BF5D-4F2F-B9FD-429DC7AB4AAE}"/>
              </a:ext>
            </a:extLst>
          </p:cNvPr>
          <p:cNvSpPr txBox="1"/>
          <p:nvPr/>
        </p:nvSpPr>
        <p:spPr>
          <a:xfrm>
            <a:off x="615043" y="3882731"/>
            <a:ext cx="6498771" cy="2400657"/>
          </a:xfrm>
          <a:prstGeom prst="rect">
            <a:avLst/>
          </a:prstGeom>
          <a:noFill/>
        </p:spPr>
        <p:txBody>
          <a:bodyPr wrap="square">
            <a:spAutoFit/>
          </a:bodyPr>
          <a:lstStyle/>
          <a:p>
            <a:pPr>
              <a:spcBef>
                <a:spcPts val="500"/>
              </a:spcBef>
              <a:spcAft>
                <a:spcPts val="500"/>
              </a:spcAft>
            </a:pPr>
            <a:r>
              <a:rPr lang="en-IN" sz="1400" b="1" dirty="0">
                <a:solidFill>
                  <a:srgbClr val="000000"/>
                </a:solidFill>
                <a:effectLst/>
                <a:latin typeface="Helvetica Neue"/>
                <a:ea typeface="Times New Roman" panose="02020603050405020304" pitchFamily="18" charset="0"/>
              </a:rPr>
              <a:t>A few types of images the model tends to do poorly on include:</a:t>
            </a:r>
            <a:endParaRPr lang="en-IN" dirty="0">
              <a:effectLst/>
              <a:latin typeface="Times New Roman" panose="02020603050405020304" pitchFamily="18" charset="0"/>
              <a:ea typeface="Times New Roman" panose="02020603050405020304" pitchFamily="18" charset="0"/>
            </a:endParaRPr>
          </a:p>
          <a:p>
            <a:pPr marL="342900" lvl="0" indent="-342900" fontAlgn="auto">
              <a:spcBef>
                <a:spcPts val="500"/>
              </a:spcBef>
              <a:spcAft>
                <a:spcPts val="500"/>
              </a:spcAft>
              <a:buSzPts val="1000"/>
              <a:buFont typeface="Wingdings" panose="05000000000000000000" pitchFamily="2" charset="2"/>
              <a:buChar char=""/>
            </a:pPr>
            <a:r>
              <a:rPr lang="en-IN" sz="1400" kern="150" dirty="0">
                <a:solidFill>
                  <a:srgbClr val="000000"/>
                </a:solidFill>
                <a:effectLst/>
                <a:latin typeface="Helvetica Neue"/>
                <a:ea typeface="Noto Serif CJK SC"/>
                <a:cs typeface="Lohit Devanagari"/>
              </a:rPr>
              <a:t>Cat body in an unusual position</a:t>
            </a:r>
            <a:endParaRPr lang="en-IN" kern="150" dirty="0">
              <a:solidFill>
                <a:srgbClr val="000000"/>
              </a:solidFill>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400" kern="150" dirty="0">
                <a:solidFill>
                  <a:srgbClr val="000000"/>
                </a:solidFill>
                <a:effectLst/>
                <a:latin typeface="Helvetica Neue"/>
                <a:ea typeface="Noto Serif CJK SC"/>
                <a:cs typeface="Lohit Devanagari"/>
              </a:rPr>
              <a:t>Cat appears against a background of a similar </a:t>
            </a:r>
            <a:r>
              <a:rPr lang="en-IN" sz="1400" kern="150" dirty="0" err="1">
                <a:solidFill>
                  <a:srgbClr val="000000"/>
                </a:solidFill>
                <a:effectLst/>
                <a:latin typeface="Helvetica Neue"/>
                <a:ea typeface="Noto Serif CJK SC"/>
                <a:cs typeface="Lohit Devanagari"/>
              </a:rPr>
              <a:t>color</a:t>
            </a:r>
            <a:endParaRPr lang="en-IN" kern="150" dirty="0">
              <a:solidFill>
                <a:srgbClr val="000000"/>
              </a:solidFill>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400" kern="150" dirty="0">
                <a:solidFill>
                  <a:srgbClr val="000000"/>
                </a:solidFill>
                <a:effectLst/>
                <a:latin typeface="Helvetica Neue"/>
                <a:ea typeface="Noto Serif CJK SC"/>
                <a:cs typeface="Lohit Devanagari"/>
              </a:rPr>
              <a:t>Unusual cat </a:t>
            </a:r>
            <a:r>
              <a:rPr lang="en-IN" sz="1400" kern="150" dirty="0" err="1">
                <a:solidFill>
                  <a:srgbClr val="000000"/>
                </a:solidFill>
                <a:effectLst/>
                <a:latin typeface="Helvetica Neue"/>
                <a:ea typeface="Noto Serif CJK SC"/>
                <a:cs typeface="Lohit Devanagari"/>
              </a:rPr>
              <a:t>color</a:t>
            </a:r>
            <a:r>
              <a:rPr lang="en-IN" sz="1400" kern="150" dirty="0">
                <a:solidFill>
                  <a:srgbClr val="000000"/>
                </a:solidFill>
                <a:effectLst/>
                <a:latin typeface="Helvetica Neue"/>
                <a:ea typeface="Noto Serif CJK SC"/>
                <a:cs typeface="Lohit Devanagari"/>
              </a:rPr>
              <a:t> and species</a:t>
            </a:r>
            <a:endParaRPr lang="en-IN" kern="150" dirty="0">
              <a:solidFill>
                <a:srgbClr val="000000"/>
              </a:solidFill>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400" kern="150" dirty="0">
                <a:solidFill>
                  <a:srgbClr val="000000"/>
                </a:solidFill>
                <a:effectLst/>
                <a:latin typeface="Helvetica Neue"/>
                <a:ea typeface="Noto Serif CJK SC"/>
                <a:cs typeface="Lohit Devanagari"/>
              </a:rPr>
              <a:t>Camera Angle</a:t>
            </a:r>
            <a:endParaRPr lang="en-IN" kern="150" dirty="0">
              <a:solidFill>
                <a:srgbClr val="000000"/>
              </a:solidFill>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400" kern="150" dirty="0">
                <a:solidFill>
                  <a:srgbClr val="000000"/>
                </a:solidFill>
                <a:effectLst/>
                <a:latin typeface="Helvetica Neue"/>
                <a:ea typeface="Noto Serif CJK SC"/>
                <a:cs typeface="Lohit Devanagari"/>
              </a:rPr>
              <a:t>Brightness of the picture</a:t>
            </a:r>
            <a:endParaRPr lang="en-IN" kern="150" dirty="0">
              <a:solidFill>
                <a:srgbClr val="000000"/>
              </a:solidFill>
              <a:effectLst/>
              <a:latin typeface="Symbol" panose="05050102010706020507" pitchFamily="18" charset="2"/>
              <a:ea typeface="Noto Serif CJK SC"/>
              <a:cs typeface="Lohit Devanagari"/>
            </a:endParaRPr>
          </a:p>
          <a:p>
            <a:pPr marL="342900" lvl="0" indent="-342900" fontAlgn="auto">
              <a:spcBef>
                <a:spcPts val="500"/>
              </a:spcBef>
              <a:spcAft>
                <a:spcPts val="500"/>
              </a:spcAft>
              <a:buSzPts val="1000"/>
              <a:buFont typeface="Wingdings" panose="05000000000000000000" pitchFamily="2" charset="2"/>
              <a:buChar char=""/>
            </a:pPr>
            <a:r>
              <a:rPr lang="en-IN" sz="1400" kern="150" dirty="0">
                <a:solidFill>
                  <a:srgbClr val="000000"/>
                </a:solidFill>
                <a:effectLst/>
                <a:latin typeface="Helvetica Neue"/>
                <a:ea typeface="Noto Serif CJK SC"/>
                <a:cs typeface="Lohit Devanagari"/>
              </a:rPr>
              <a:t>Scale variation (cat is very large or small in image)</a:t>
            </a:r>
            <a:endParaRPr lang="en-IN" kern="150" dirty="0">
              <a:solidFill>
                <a:srgbClr val="000000"/>
              </a:solidFill>
              <a:effectLst/>
              <a:latin typeface="Symbol" panose="05050102010706020507" pitchFamily="18" charset="2"/>
              <a:ea typeface="Noto Serif CJK SC"/>
              <a:cs typeface="Lohit Devanagari"/>
            </a:endParaRPr>
          </a:p>
        </p:txBody>
      </p:sp>
    </p:spTree>
    <p:extLst>
      <p:ext uri="{BB962C8B-B14F-4D97-AF65-F5344CB8AC3E}">
        <p14:creationId xmlns:p14="http://schemas.microsoft.com/office/powerpoint/2010/main" val="3348313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3D60-CC44-428A-93F7-3010F18CD5C4}"/>
              </a:ext>
            </a:extLst>
          </p:cNvPr>
          <p:cNvSpPr>
            <a:spLocks noGrp="1"/>
          </p:cNvSpPr>
          <p:nvPr>
            <p:ph type="title"/>
          </p:nvPr>
        </p:nvSpPr>
        <p:spPr/>
        <p:txBody>
          <a:bodyPr>
            <a:normAutofit/>
          </a:bodyPr>
          <a:lstStyle/>
          <a:p>
            <a:r>
              <a:rPr lang="en-IN" sz="4400" dirty="0" err="1">
                <a:solidFill>
                  <a:schemeClr val="accent2">
                    <a:lumMod val="75000"/>
                  </a:schemeClr>
                </a:solidFill>
              </a:rPr>
              <a:t>Biblography</a:t>
            </a:r>
            <a:endParaRPr lang="en-IN" sz="4400" dirty="0">
              <a:solidFill>
                <a:schemeClr val="accent2">
                  <a:lumMod val="75000"/>
                </a:schemeClr>
              </a:solidFill>
            </a:endParaRPr>
          </a:p>
        </p:txBody>
      </p:sp>
      <p:sp>
        <p:nvSpPr>
          <p:cNvPr id="3" name="Content Placeholder 2">
            <a:extLst>
              <a:ext uri="{FF2B5EF4-FFF2-40B4-BE49-F238E27FC236}">
                <a16:creationId xmlns:a16="http://schemas.microsoft.com/office/drawing/2014/main" id="{256A2B31-3780-4F64-A90A-4B56E7F96F73}"/>
              </a:ext>
            </a:extLst>
          </p:cNvPr>
          <p:cNvSpPr>
            <a:spLocks noGrp="1"/>
          </p:cNvSpPr>
          <p:nvPr>
            <p:ph idx="1"/>
          </p:nvPr>
        </p:nvSpPr>
        <p:spPr>
          <a:xfrm>
            <a:off x="1002632" y="2560320"/>
            <a:ext cx="10058400" cy="3931920"/>
          </a:xfrm>
        </p:spPr>
        <p:txBody>
          <a:bodyPr/>
          <a:lstStyle/>
          <a:p>
            <a:r>
              <a:rPr lang="en-IN" dirty="0"/>
              <a:t>Coursera:  </a:t>
            </a:r>
            <a:r>
              <a:rPr lang="en-IN" sz="1800" kern="150" dirty="0">
                <a:effectLst/>
                <a:latin typeface="Liberation Serif"/>
                <a:ea typeface="Noto Serif CJK SC"/>
                <a:cs typeface="Lohit Devanagari"/>
              </a:rPr>
              <a:t>The course is offered by DeepLearning.AI</a:t>
            </a:r>
            <a:endParaRPr lang="en-IN" dirty="0"/>
          </a:p>
          <a:p>
            <a:r>
              <a:rPr lang="en-IN" dirty="0"/>
              <a:t>Wikipedia</a:t>
            </a:r>
          </a:p>
          <a:p>
            <a:r>
              <a:rPr lang="en-IN" dirty="0"/>
              <a:t>Google images</a:t>
            </a:r>
          </a:p>
        </p:txBody>
      </p:sp>
      <p:pic>
        <p:nvPicPr>
          <p:cNvPr id="4098" name="Picture 2" descr="Digital Skills Partnership offers 10,000 people in the South East a chance  to obtain new skills for free with Coursera - The South East Local  Enterprise Partnership">
            <a:extLst>
              <a:ext uri="{FF2B5EF4-FFF2-40B4-BE49-F238E27FC236}">
                <a16:creationId xmlns:a16="http://schemas.microsoft.com/office/drawing/2014/main" id="{E69C01AC-E97B-4E02-80A4-D31CB12BF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832" y="1806073"/>
            <a:ext cx="2993858" cy="199590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Yes, Google has a new logo – but why?">
            <a:extLst>
              <a:ext uri="{FF2B5EF4-FFF2-40B4-BE49-F238E27FC236}">
                <a16:creationId xmlns:a16="http://schemas.microsoft.com/office/drawing/2014/main" id="{259F36ED-8012-4E43-AD21-EF5F6219F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5454" y="4011767"/>
            <a:ext cx="1995905" cy="199590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Font Wikipedia logo | Logos, Wikipedia, Tech company logos">
            <a:extLst>
              <a:ext uri="{FF2B5EF4-FFF2-40B4-BE49-F238E27FC236}">
                <a16:creationId xmlns:a16="http://schemas.microsoft.com/office/drawing/2014/main" id="{CF6471B7-138C-4FE0-B2ED-A530AA4735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832" y="4219498"/>
            <a:ext cx="4099673" cy="1580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458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437BD-AAA1-46AF-923C-A40977258442}"/>
              </a:ext>
            </a:extLst>
          </p:cNvPr>
          <p:cNvSpPr>
            <a:spLocks noGrp="1"/>
          </p:cNvSpPr>
          <p:nvPr>
            <p:ph type="title"/>
          </p:nvPr>
        </p:nvSpPr>
        <p:spPr>
          <a:xfrm>
            <a:off x="3641558" y="2583689"/>
            <a:ext cx="10058400" cy="1371600"/>
          </a:xfrm>
        </p:spPr>
        <p:txBody>
          <a:bodyPr/>
          <a:lstStyle/>
          <a:p>
            <a:r>
              <a:rPr lang="en-IN" dirty="0"/>
              <a:t>THANK YOU</a:t>
            </a:r>
          </a:p>
        </p:txBody>
      </p:sp>
    </p:spTree>
    <p:extLst>
      <p:ext uri="{BB962C8B-B14F-4D97-AF65-F5344CB8AC3E}">
        <p14:creationId xmlns:p14="http://schemas.microsoft.com/office/powerpoint/2010/main" val="12625961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736059"/>
      </a:dk2>
      <a:lt2>
        <a:srgbClr val="E7E0C7"/>
      </a:lt2>
      <a:accent1>
        <a:srgbClr val="92B0C8"/>
      </a:accent1>
      <a:accent2>
        <a:srgbClr val="E37C3D"/>
      </a:accent2>
      <a:accent3>
        <a:srgbClr val="A5AB81"/>
      </a:accent3>
      <a:accent4>
        <a:srgbClr val="E9B635"/>
      </a:accent4>
      <a:accent5>
        <a:srgbClr val="7BA79D"/>
      </a:accent5>
      <a:accent6>
        <a:srgbClr val="968C8C"/>
      </a:accent6>
      <a:hlink>
        <a:srgbClr val="F7A115"/>
      </a:hlink>
      <a:folHlink>
        <a:srgbClr val="969696"/>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535</TotalTime>
  <Words>1268</Words>
  <Application>Microsoft Office PowerPoint</Application>
  <PresentationFormat>Widescreen</PresentationFormat>
  <Paragraphs>59</Paragraphs>
  <Slides>16</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-apple-system</vt:lpstr>
      <vt:lpstr>Arial</vt:lpstr>
      <vt:lpstr>Arial</vt:lpstr>
      <vt:lpstr>Garamond</vt:lpstr>
      <vt:lpstr>Helvetica Neue</vt:lpstr>
      <vt:lpstr>inherit</vt:lpstr>
      <vt:lpstr>Liberation Serif</vt:lpstr>
      <vt:lpstr>STIXMathJax_Main</vt:lpstr>
      <vt:lpstr>STIXMathJax_Main-italic</vt:lpstr>
      <vt:lpstr>Symbol</vt:lpstr>
      <vt:lpstr>Times New Roman</vt:lpstr>
      <vt:lpstr>Wingdings</vt:lpstr>
      <vt:lpstr>Savon</vt:lpstr>
      <vt:lpstr>NEURAL NETWORKS AND 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Biblography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-REGRESSION</dc:title>
  <dc:creator>mayank chaudhary</dc:creator>
  <cp:lastModifiedBy>mayank chaudhary</cp:lastModifiedBy>
  <cp:revision>26</cp:revision>
  <dcterms:created xsi:type="dcterms:W3CDTF">2020-11-08T08:06:54Z</dcterms:created>
  <dcterms:modified xsi:type="dcterms:W3CDTF">2021-06-15T06:10:08Z</dcterms:modified>
</cp:coreProperties>
</file>