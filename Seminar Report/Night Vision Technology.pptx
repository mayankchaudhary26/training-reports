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43" r:id="rId1"/>
  </p:sldMasterIdLst>
  <p:sldIdLst>
    <p:sldId id="257" r:id="rId2"/>
    <p:sldId id="256" r:id="rId3"/>
    <p:sldId id="267" r:id="rId4"/>
    <p:sldId id="264" r:id="rId5"/>
    <p:sldId id="266" r:id="rId6"/>
    <p:sldId id="261" r:id="rId7"/>
    <p:sldId id="268"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96" d="100"/>
          <a:sy n="96" d="100"/>
        </p:scale>
        <p:origin x="86" y="1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88EC0E94-1CFC-4CB5-818B-7D48C7EEBC4B}" type="datetimeFigureOut">
              <a:rPr lang="en-IN" smtClean="0"/>
              <a:t>12-12-2021</a:t>
            </a:fld>
            <a:endParaRPr lang="en-IN"/>
          </a:p>
        </p:txBody>
      </p:sp>
      <p:sp>
        <p:nvSpPr>
          <p:cNvPr id="5" name="Footer Placeholder 4"/>
          <p:cNvSpPr>
            <a:spLocks noGrp="1"/>
          </p:cNvSpPr>
          <p:nvPr>
            <p:ph type="ftr" sz="quarter" idx="11"/>
          </p:nvPr>
        </p:nvSpPr>
        <p:spPr>
          <a:xfrm>
            <a:off x="1876424" y="5410201"/>
            <a:ext cx="5124886" cy="365125"/>
          </a:xfrm>
        </p:spPr>
        <p:txBody>
          <a:bodyPr/>
          <a:lstStyle/>
          <a:p>
            <a:endParaRPr lang="en-IN"/>
          </a:p>
        </p:txBody>
      </p:sp>
      <p:sp>
        <p:nvSpPr>
          <p:cNvPr id="6" name="Slide Number Placeholder 5"/>
          <p:cNvSpPr>
            <a:spLocks noGrp="1"/>
          </p:cNvSpPr>
          <p:nvPr>
            <p:ph type="sldNum" sz="quarter" idx="12"/>
          </p:nvPr>
        </p:nvSpPr>
        <p:spPr>
          <a:xfrm>
            <a:off x="9896911" y="5410199"/>
            <a:ext cx="771089" cy="365125"/>
          </a:xfrm>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2447975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EC0E94-1CFC-4CB5-818B-7D48C7EEBC4B}" type="datetimeFigureOut">
              <a:rPr lang="en-IN" smtClean="0"/>
              <a:t>12-12-2021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38556058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8EC0E94-1CFC-4CB5-818B-7D48C7EEBC4B}" type="datetimeFigureOut">
              <a:rPr lang="en-IN" smtClean="0"/>
              <a:t>12-12-2021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41293660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16523590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8EC0E94-1CFC-4CB5-818B-7D48C7EEBC4B}" type="datetimeFigureOut">
              <a:rPr lang="en-IN" smtClean="0"/>
              <a:t>12-12-2021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1035552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8EC0E94-1CFC-4CB5-818B-7D48C7EEBC4B}" type="datetimeFigureOut">
              <a:rPr lang="en-IN" smtClean="0"/>
              <a:t>12-12-2021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1469244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EC0E94-1CFC-4CB5-818B-7D48C7EEBC4B}" type="datetimeFigureOut">
              <a:rPr lang="en-IN" smtClean="0"/>
              <a:t>12-12-2021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13524856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749943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500303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36506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28345501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7965007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8EC0E94-1CFC-4CB5-818B-7D48C7EEBC4B}" type="datetimeFigureOut">
              <a:rPr lang="en-IN" smtClean="0"/>
              <a:t>12-12-2021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28852083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EC0E94-1CFC-4CB5-818B-7D48C7EEBC4B}" type="datetimeFigureOut">
              <a:rPr lang="en-IN" smtClean="0"/>
              <a:t>12-12-2021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39381765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88EC0E94-1CFC-4CB5-818B-7D48C7EEBC4B}" type="datetimeFigureOut">
              <a:rPr lang="en-IN" smtClean="0"/>
              <a:t>12-12-2021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17501007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EC0E94-1CFC-4CB5-818B-7D48C7EEBC4B}" type="datetimeFigureOut">
              <a:rPr lang="en-IN" smtClean="0"/>
              <a:t>12-12-2021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37471348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EC0E94-1CFC-4CB5-818B-7D48C7EEBC4B}" type="datetimeFigureOut">
              <a:rPr lang="en-IN" smtClean="0"/>
              <a:t>12-12-2021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68A8157-BA81-49B1-BDEC-EBBC00C5A1D7}" type="slidenum">
              <a:rPr lang="en-IN" smtClean="0"/>
              <a:t>‹#›</a:t>
            </a:fld>
            <a:endParaRPr lang="en-IN"/>
          </a:p>
        </p:txBody>
      </p:sp>
    </p:spTree>
    <p:extLst>
      <p:ext uri="{BB962C8B-B14F-4D97-AF65-F5344CB8AC3E}">
        <p14:creationId xmlns:p14="http://schemas.microsoft.com/office/powerpoint/2010/main" val="26808761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8EC0E94-1CFC-4CB5-818B-7D48C7EEBC4B}" type="datetimeFigureOut">
              <a:rPr lang="en-IN" smtClean="0"/>
              <a:t>12-12-2021</a:t>
            </a:fld>
            <a:endParaRPr lang="en-IN"/>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68A8157-BA81-49B1-BDEC-EBBC00C5A1D7}" type="slidenum">
              <a:rPr lang="en-IN" smtClean="0"/>
              <a:t>‹#›</a:t>
            </a:fld>
            <a:endParaRPr lang="en-IN"/>
          </a:p>
        </p:txBody>
      </p:sp>
    </p:spTree>
    <p:extLst>
      <p:ext uri="{BB962C8B-B14F-4D97-AF65-F5344CB8AC3E}">
        <p14:creationId xmlns:p14="http://schemas.microsoft.com/office/powerpoint/2010/main" val="256954999"/>
      </p:ext>
    </p:extLst>
  </p:cSld>
  <p:clrMap bg1="dk1" tx1="lt1" bg2="dk2" tx2="lt2" accent1="accent1" accent2="accent2" accent3="accent3" accent4="accent4" accent5="accent5" accent6="accent6" hlink="hlink" folHlink="folHlink"/>
  <p:sldLayoutIdLst>
    <p:sldLayoutId id="2147483844" r:id="rId1"/>
    <p:sldLayoutId id="2147483845" r:id="rId2"/>
    <p:sldLayoutId id="2147483846" r:id="rId3"/>
    <p:sldLayoutId id="2147483847" r:id="rId4"/>
    <p:sldLayoutId id="2147483848" r:id="rId5"/>
    <p:sldLayoutId id="2147483849" r:id="rId6"/>
    <p:sldLayoutId id="2147483850" r:id="rId7"/>
    <p:sldLayoutId id="2147483851" r:id="rId8"/>
    <p:sldLayoutId id="2147483852" r:id="rId9"/>
    <p:sldLayoutId id="2147483853" r:id="rId10"/>
    <p:sldLayoutId id="2147483854" r:id="rId11"/>
    <p:sldLayoutId id="2147483855" r:id="rId12"/>
    <p:sldLayoutId id="2147483856" r:id="rId13"/>
    <p:sldLayoutId id="2147483857" r:id="rId14"/>
    <p:sldLayoutId id="2147483858" r:id="rId15"/>
    <p:sldLayoutId id="2147483859" r:id="rId16"/>
    <p:sldLayoutId id="2147483860"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cctvcameraworld.com/night-vision-security-cameras.html" TargetMode="External"/><Relationship Id="rId2" Type="http://schemas.openxmlformats.org/officeDocument/2006/relationships/image" Target="../media/image7.jpeg"/><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e Evolution of Night Vision Technology | COMSOL Blog">
            <a:extLst>
              <a:ext uri="{FF2B5EF4-FFF2-40B4-BE49-F238E27FC236}">
                <a16:creationId xmlns:a16="http://schemas.microsoft.com/office/drawing/2014/main" id="{61A0A4C8-257E-4B02-8124-26DC265603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AE6047FC-B04A-42A8-9CB4-17CEAC2A6A07}"/>
              </a:ext>
            </a:extLst>
          </p:cNvPr>
          <p:cNvSpPr/>
          <p:nvPr/>
        </p:nvSpPr>
        <p:spPr>
          <a:xfrm>
            <a:off x="2583303" y="1194194"/>
            <a:ext cx="6707350" cy="923330"/>
          </a:xfrm>
          <a:prstGeom prst="rect">
            <a:avLst/>
          </a:prstGeom>
          <a:noFill/>
        </p:spPr>
        <p:txBody>
          <a:bodyPr wrap="none" lIns="91440" tIns="45720" rIns="91440" bIns="45720">
            <a:spAutoFit/>
          </a:bodyPr>
          <a:lstStyle/>
          <a:p>
            <a:pPr algn="ctr"/>
            <a:r>
              <a:rPr lang="en-US" sz="5400" b="0" cap="none" spc="0" dirty="0">
                <a:ln w="0"/>
                <a:solidFill>
                  <a:schemeClr val="tx1"/>
                </a:solidFill>
                <a:effectLst>
                  <a:outerShdw blurRad="38100" dist="19050" dir="2700000" algn="tl" rotWithShape="0">
                    <a:schemeClr val="dk1">
                      <a:alpha val="40000"/>
                    </a:schemeClr>
                  </a:outerShdw>
                </a:effectLst>
              </a:rPr>
              <a:t>Night Vision Technology</a:t>
            </a:r>
          </a:p>
        </p:txBody>
      </p:sp>
    </p:spTree>
    <p:extLst>
      <p:ext uri="{BB962C8B-B14F-4D97-AF65-F5344CB8AC3E}">
        <p14:creationId xmlns:p14="http://schemas.microsoft.com/office/powerpoint/2010/main" val="432990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Night Vision Works | HowStuffWorks">
            <a:extLst>
              <a:ext uri="{FF2B5EF4-FFF2-40B4-BE49-F238E27FC236}">
                <a16:creationId xmlns:a16="http://schemas.microsoft.com/office/drawing/2014/main" id="{BB7D1EC2-5F86-4EA7-BF08-95AE7DBFEE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07" r="13065" b="-1"/>
          <a:stretch/>
        </p:blipFill>
        <p:spPr bwMode="auto">
          <a:xfrm>
            <a:off x="0" y="-103367"/>
            <a:ext cx="12191999" cy="6961367"/>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D7ED3E5-63D2-4CE9-9844-C6A5FA0B5327}"/>
              </a:ext>
            </a:extLst>
          </p:cNvPr>
          <p:cNvSpPr txBox="1"/>
          <p:nvPr/>
        </p:nvSpPr>
        <p:spPr>
          <a:xfrm>
            <a:off x="3053301" y="1184745"/>
            <a:ext cx="7783996" cy="1938992"/>
          </a:xfrm>
          <a:prstGeom prst="rect">
            <a:avLst/>
          </a:prstGeom>
          <a:noFill/>
        </p:spPr>
        <p:txBody>
          <a:bodyPr wrap="square">
            <a:spAutoFit/>
          </a:bodyPr>
          <a:lstStyle/>
          <a:p>
            <a:r>
              <a:rPr lang="en-US" sz="2000" b="1" i="0" dirty="0">
                <a:effectLst/>
                <a:latin typeface="Arial" panose="020B0604020202020204" pitchFamily="34" charset="0"/>
              </a:rPr>
              <a:t>Night vision</a:t>
            </a:r>
            <a:r>
              <a:rPr lang="en-US" sz="2000" b="0" i="0" dirty="0">
                <a:effectLst/>
                <a:latin typeface="Arial" panose="020B0604020202020204" pitchFamily="34" charset="0"/>
              </a:rPr>
              <a:t> is the ability to see in low-light conditions. Whether by </a:t>
            </a:r>
            <a:r>
              <a:rPr lang="en-US" sz="2000" b="0" i="0" u="none" strike="noStrike" dirty="0">
                <a:effectLst/>
                <a:latin typeface="Arial" panose="020B0604020202020204" pitchFamily="34" charset="0"/>
              </a:rPr>
              <a:t>biological</a:t>
            </a:r>
            <a:r>
              <a:rPr lang="en-US" sz="2000" b="0" i="0" dirty="0">
                <a:effectLst/>
                <a:latin typeface="Arial" panose="020B0604020202020204" pitchFamily="34" charset="0"/>
              </a:rPr>
              <a:t> or </a:t>
            </a:r>
            <a:r>
              <a:rPr lang="en-US" sz="2000" b="0" i="0" u="none" strike="noStrike" dirty="0">
                <a:effectLst/>
                <a:latin typeface="Arial" panose="020B0604020202020204" pitchFamily="34" charset="0"/>
              </a:rPr>
              <a:t>technological</a:t>
            </a:r>
            <a:r>
              <a:rPr lang="en-US" sz="2000" b="0" i="0" dirty="0">
                <a:effectLst/>
                <a:latin typeface="Arial" panose="020B0604020202020204" pitchFamily="34" charset="0"/>
              </a:rPr>
              <a:t> means, night vision is made possible by a combination of two approaches: sufficient </a:t>
            </a:r>
            <a:r>
              <a:rPr lang="en-US" sz="2000" b="0" i="0" u="none" strike="noStrike" dirty="0">
                <a:effectLst/>
                <a:latin typeface="Arial" panose="020B0604020202020204" pitchFamily="34" charset="0"/>
              </a:rPr>
              <a:t>spectral range</a:t>
            </a:r>
            <a:r>
              <a:rPr lang="en-US" sz="2000" b="0" i="0" dirty="0">
                <a:effectLst/>
                <a:latin typeface="Arial" panose="020B0604020202020204" pitchFamily="34" charset="0"/>
              </a:rPr>
              <a:t>, and sufficient </a:t>
            </a:r>
            <a:r>
              <a:rPr lang="en-US" sz="2000" b="0" i="0" u="none" strike="noStrike" dirty="0">
                <a:effectLst/>
                <a:latin typeface="Arial" panose="020B0604020202020204" pitchFamily="34" charset="0"/>
              </a:rPr>
              <a:t>intensity range</a:t>
            </a:r>
            <a:r>
              <a:rPr lang="en-US" sz="2000" b="0" i="0" dirty="0">
                <a:effectLst/>
                <a:latin typeface="Arial" panose="020B0604020202020204" pitchFamily="34" charset="0"/>
              </a:rPr>
              <a:t>. Humans have poor night vision compared to many animals, in part because the </a:t>
            </a:r>
            <a:r>
              <a:rPr lang="en-US" sz="2000" b="0" i="0" u="none" strike="noStrike" dirty="0">
                <a:effectLst/>
                <a:latin typeface="Arial" panose="020B0604020202020204" pitchFamily="34" charset="0"/>
              </a:rPr>
              <a:t>human eye</a:t>
            </a:r>
            <a:r>
              <a:rPr lang="en-US" sz="2000" b="0" i="0" dirty="0">
                <a:effectLst/>
                <a:latin typeface="Arial" panose="020B0604020202020204" pitchFamily="34" charset="0"/>
              </a:rPr>
              <a:t> lacks a tapetum lucidum</a:t>
            </a:r>
            <a:endParaRPr lang="en-IN" sz="2000" dirty="0"/>
          </a:p>
        </p:txBody>
      </p:sp>
      <p:pic>
        <p:nvPicPr>
          <p:cNvPr id="11" name="Picture 6" descr="How Do Night Vision Goggles Work? | Wonderopolis">
            <a:extLst>
              <a:ext uri="{FF2B5EF4-FFF2-40B4-BE49-F238E27FC236}">
                <a16:creationId xmlns:a16="http://schemas.microsoft.com/office/drawing/2014/main" id="{9089832A-1359-4F9E-B30F-2A92D649C8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027" y="3830847"/>
            <a:ext cx="3712067" cy="23200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82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Night Vision Works | HowStuffWorks">
            <a:extLst>
              <a:ext uri="{FF2B5EF4-FFF2-40B4-BE49-F238E27FC236}">
                <a16:creationId xmlns:a16="http://schemas.microsoft.com/office/drawing/2014/main" id="{BB7D1EC2-5F86-4EA7-BF08-95AE7DBFEE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07" r="13065" b="-1"/>
          <a:stretch/>
        </p:blipFill>
        <p:spPr bwMode="auto">
          <a:xfrm>
            <a:off x="0" y="-103367"/>
            <a:ext cx="12191999" cy="696136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B8C211A-6850-4B6C-A624-1C14C36EB37B}"/>
              </a:ext>
            </a:extLst>
          </p:cNvPr>
          <p:cNvSpPr txBox="1"/>
          <p:nvPr/>
        </p:nvSpPr>
        <p:spPr>
          <a:xfrm>
            <a:off x="2337683" y="1120676"/>
            <a:ext cx="9668786" cy="2308324"/>
          </a:xfrm>
          <a:prstGeom prst="rect">
            <a:avLst/>
          </a:prstGeom>
          <a:noFill/>
        </p:spPr>
        <p:txBody>
          <a:bodyPr wrap="square">
            <a:spAutoFit/>
          </a:bodyPr>
          <a:lstStyle/>
          <a:p>
            <a:pPr algn="l"/>
            <a:r>
              <a:rPr lang="en-US" b="0" i="0" dirty="0">
                <a:effectLst/>
                <a:latin typeface="Lato" panose="020F0502020204030203" pitchFamily="34" charset="0"/>
              </a:rPr>
              <a:t>Even at night, the photons that hit the lens at the front of night vision goggles are carrying light of all colors. But when they are converted to electrons, there's no way to preserve that information. Effectively, the incoming, colored light is turned into black and white. Why, then, don't night vision goggles look black and white? The phosphors on their screens are deliberately chosen to make green pictures because our eyes are more sensitive to green light. It's also easier to look at green screens for long periods than to look at black and white ones (that's why early computer screens tended to be green). Hence, night vision goggles have their characteristic, eerie green glow.</a:t>
            </a:r>
          </a:p>
        </p:txBody>
      </p:sp>
      <p:sp>
        <p:nvSpPr>
          <p:cNvPr id="7" name="TextBox 6">
            <a:extLst>
              <a:ext uri="{FF2B5EF4-FFF2-40B4-BE49-F238E27FC236}">
                <a16:creationId xmlns:a16="http://schemas.microsoft.com/office/drawing/2014/main" id="{C5403D54-679C-4611-9E80-5A7C25C8CEC4}"/>
              </a:ext>
            </a:extLst>
          </p:cNvPr>
          <p:cNvSpPr txBox="1"/>
          <p:nvPr/>
        </p:nvSpPr>
        <p:spPr>
          <a:xfrm>
            <a:off x="701704" y="252974"/>
            <a:ext cx="6158284" cy="646331"/>
          </a:xfrm>
          <a:prstGeom prst="rect">
            <a:avLst/>
          </a:prstGeom>
          <a:noFill/>
        </p:spPr>
        <p:txBody>
          <a:bodyPr wrap="square">
            <a:spAutoFit/>
          </a:bodyPr>
          <a:lstStyle/>
          <a:p>
            <a:pPr algn="l"/>
            <a:r>
              <a:rPr lang="en-US" b="1" i="0" dirty="0">
                <a:solidFill>
                  <a:schemeClr val="bg2">
                    <a:lumMod val="20000"/>
                    <a:lumOff val="80000"/>
                  </a:schemeClr>
                </a:solidFill>
                <a:effectLst/>
                <a:latin typeface="Lato" panose="020F0502020204030203" pitchFamily="34" charset="0"/>
              </a:rPr>
              <a:t>Why does everything look green through night vision goggles?</a:t>
            </a:r>
          </a:p>
        </p:txBody>
      </p:sp>
      <p:pic>
        <p:nvPicPr>
          <p:cNvPr id="5124" name="Picture 4" descr="A military helicopter seen through green night vision">
            <a:extLst>
              <a:ext uri="{FF2B5EF4-FFF2-40B4-BE49-F238E27FC236}">
                <a16:creationId xmlns:a16="http://schemas.microsoft.com/office/drawing/2014/main" id="{2682D8AF-27E6-4DA6-99AC-E7C333F4F2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704" y="3748087"/>
            <a:ext cx="4286250" cy="279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1674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ight vision - Wikipedia">
            <a:extLst>
              <a:ext uri="{FF2B5EF4-FFF2-40B4-BE49-F238E27FC236}">
                <a16:creationId xmlns:a16="http://schemas.microsoft.com/office/drawing/2014/main" id="{2EF5471D-AEAF-420E-BA95-1B50398CA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1" cy="684304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42BB1AA-D727-476E-A21B-01E8361416BF}"/>
              </a:ext>
            </a:extLst>
          </p:cNvPr>
          <p:cNvSpPr txBox="1"/>
          <p:nvPr/>
        </p:nvSpPr>
        <p:spPr>
          <a:xfrm>
            <a:off x="669235" y="3586038"/>
            <a:ext cx="10853529" cy="2554545"/>
          </a:xfrm>
          <a:prstGeom prst="rect">
            <a:avLst/>
          </a:prstGeom>
          <a:noFill/>
        </p:spPr>
        <p:txBody>
          <a:bodyPr wrap="square">
            <a:spAutoFit/>
          </a:bodyPr>
          <a:lstStyle/>
          <a:p>
            <a:pPr algn="l"/>
            <a:r>
              <a:rPr lang="en-US" sz="2000" b="0" i="0" dirty="0">
                <a:effectLst/>
                <a:latin typeface="Arial" panose="020B0604020202020204" pitchFamily="34" charset="0"/>
              </a:rPr>
              <a:t>Thermal imaging devices can be used for many of these applications as well, and more. NVDs provide an amplified view of what you would normally see, although it’s only in one color. Thermal imaging devices, on the other hand, pick up heat, which makes them useful in other ways. Since thermal-IR energy is emitted rather than reflected, these devices can work in the complete absence of any light. This makes them particularly useful for firefighters, who may find themselves going into a building that is not only dimly lit, but also choked with smoke. Firefighters wear a helmet-mounted thermal imaging device that drops down over one eye, sort of like a monocle, allowing them to see in the unfriendly conditions they are often faced with.</a:t>
            </a:r>
          </a:p>
        </p:txBody>
      </p:sp>
      <p:pic>
        <p:nvPicPr>
          <p:cNvPr id="8194" name="Picture 2" descr="Night Vision Technology and Its Applications">
            <a:extLst>
              <a:ext uri="{FF2B5EF4-FFF2-40B4-BE49-F238E27FC236}">
                <a16:creationId xmlns:a16="http://schemas.microsoft.com/office/drawing/2014/main" id="{E4986FA8-5AD0-41D6-A6A7-4CB539821B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0180" y="613253"/>
            <a:ext cx="3778733" cy="2815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1141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ight vision - Wikipedia">
            <a:extLst>
              <a:ext uri="{FF2B5EF4-FFF2-40B4-BE49-F238E27FC236}">
                <a16:creationId xmlns:a16="http://schemas.microsoft.com/office/drawing/2014/main" id="{2EF5471D-AEAF-420E-BA95-1B50398CA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1" cy="684304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619C0F1-48F0-41BC-A818-08D80C7FEBC3}"/>
              </a:ext>
            </a:extLst>
          </p:cNvPr>
          <p:cNvSpPr txBox="1"/>
          <p:nvPr/>
        </p:nvSpPr>
        <p:spPr>
          <a:xfrm>
            <a:off x="1076076" y="1362206"/>
            <a:ext cx="10039848" cy="2862322"/>
          </a:xfrm>
          <a:prstGeom prst="rect">
            <a:avLst/>
          </a:prstGeom>
          <a:noFill/>
        </p:spPr>
        <p:txBody>
          <a:bodyPr wrap="square">
            <a:spAutoFit/>
          </a:bodyPr>
          <a:lstStyle/>
          <a:p>
            <a:pPr algn="l"/>
            <a:r>
              <a:rPr lang="en-US" b="0" i="0" dirty="0">
                <a:effectLst/>
                <a:latin typeface="Arial" panose="020B0604020202020204" pitchFamily="34" charset="0"/>
              </a:rPr>
              <a:t>Night vision was originally developed for warfare. Information becomes even more valuable when lives literally depend on it, and the locations of enemy troops and awareness of your own surroundings are two of the most important types of information. The ability to gather this information at night, when your enemies may be blind, is a huge advantage. The military uses a variety of NVDs for these purposes – hand-held sighting scopes, weapon scopes, and night vision goggles being the main three.</a:t>
            </a:r>
          </a:p>
          <a:p>
            <a:pPr algn="l"/>
            <a:r>
              <a:rPr lang="en-US" b="0" i="0" dirty="0">
                <a:effectLst/>
                <a:latin typeface="Arial" panose="020B0604020202020204" pitchFamily="34" charset="0"/>
              </a:rPr>
              <a:t>Military use isn’t the only application for night vision, though. </a:t>
            </a:r>
            <a:r>
              <a:rPr lang="en-US" b="0" i="0" u="none" strike="noStrike" dirty="0">
                <a:effectLst/>
                <a:latin typeface="Arial" panose="020B0604020202020204" pitchFamily="34" charset="0"/>
                <a:hlinkClick r:id="rId3">
                  <a:extLst>
                    <a:ext uri="{A12FA001-AC4F-418D-AE19-62706E023703}">
                      <ahyp:hlinkClr xmlns:ahyp="http://schemas.microsoft.com/office/drawing/2018/hyperlinkcolor" val="tx"/>
                    </a:ext>
                  </a:extLst>
                </a:hlinkClick>
              </a:rPr>
              <a:t>Night vision cameras</a:t>
            </a:r>
            <a:r>
              <a:rPr lang="en-US" b="0" i="0" dirty="0">
                <a:effectLst/>
                <a:latin typeface="Arial" panose="020B0604020202020204" pitchFamily="34" charset="0"/>
              </a:rPr>
              <a:t> are often used for security, as well. They are especially useful in less-populated areas where there is less light. Law enforcement and the military also both use NVDs in helicopters for surveillance when necessary.</a:t>
            </a:r>
          </a:p>
        </p:txBody>
      </p:sp>
      <p:sp>
        <p:nvSpPr>
          <p:cNvPr id="4" name="TextBox 3">
            <a:extLst>
              <a:ext uri="{FF2B5EF4-FFF2-40B4-BE49-F238E27FC236}">
                <a16:creationId xmlns:a16="http://schemas.microsoft.com/office/drawing/2014/main" id="{55F8D2BE-EA6C-4B96-BBD7-425A8DEE4864}"/>
              </a:ext>
            </a:extLst>
          </p:cNvPr>
          <p:cNvSpPr txBox="1"/>
          <p:nvPr/>
        </p:nvSpPr>
        <p:spPr>
          <a:xfrm>
            <a:off x="4081007" y="462113"/>
            <a:ext cx="6094674" cy="584775"/>
          </a:xfrm>
          <a:prstGeom prst="rect">
            <a:avLst/>
          </a:prstGeom>
          <a:noFill/>
        </p:spPr>
        <p:txBody>
          <a:bodyPr wrap="square">
            <a:spAutoFit/>
          </a:bodyPr>
          <a:lstStyle/>
          <a:p>
            <a:pPr algn="l"/>
            <a:r>
              <a:rPr lang="en-US" sz="3200" b="1" u="sng" dirty="0">
                <a:effectLst/>
                <a:latin typeface="Arial" panose="020B0604020202020204" pitchFamily="34" charset="0"/>
              </a:rPr>
              <a:t>Applications</a:t>
            </a:r>
          </a:p>
        </p:txBody>
      </p:sp>
      <p:pic>
        <p:nvPicPr>
          <p:cNvPr id="6146" name="Picture 2" descr="Night Vision 101: Seeing in the Dark | B&amp;amp;H Explora">
            <a:extLst>
              <a:ext uri="{FF2B5EF4-FFF2-40B4-BE49-F238E27FC236}">
                <a16:creationId xmlns:a16="http://schemas.microsoft.com/office/drawing/2014/main" id="{DB20688F-BD0B-416F-B90F-BAEB654B00A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90651" y="4680254"/>
            <a:ext cx="3303353" cy="18826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70822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Night vision - Wikipedia">
            <a:extLst>
              <a:ext uri="{FF2B5EF4-FFF2-40B4-BE49-F238E27FC236}">
                <a16:creationId xmlns:a16="http://schemas.microsoft.com/office/drawing/2014/main" id="{2EF5471D-AEAF-420E-BA95-1B50398CAA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4960"/>
            <a:ext cx="12192001" cy="684304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9E8C1DD-E243-49D9-93CA-C33E738F2491}"/>
              </a:ext>
            </a:extLst>
          </p:cNvPr>
          <p:cNvSpPr txBox="1"/>
          <p:nvPr/>
        </p:nvSpPr>
        <p:spPr>
          <a:xfrm>
            <a:off x="2260489" y="682185"/>
            <a:ext cx="7671020" cy="4093428"/>
          </a:xfrm>
          <a:prstGeom prst="rect">
            <a:avLst/>
          </a:prstGeom>
          <a:noFill/>
        </p:spPr>
        <p:txBody>
          <a:bodyPr wrap="square">
            <a:spAutoFit/>
          </a:bodyPr>
          <a:lstStyle/>
          <a:p>
            <a:pPr algn="ctr" fontAlgn="base"/>
            <a:r>
              <a:rPr lang="en-US" sz="4400" b="1" i="0" u="sng" dirty="0">
                <a:effectLst/>
                <a:latin typeface="urw-din"/>
              </a:rPr>
              <a:t>Night vision devices:</a:t>
            </a:r>
            <a:endParaRPr lang="en-US" sz="6000" b="0" i="0" u="sng" dirty="0">
              <a:effectLst/>
              <a:latin typeface="urw-din"/>
            </a:endParaRPr>
          </a:p>
          <a:p>
            <a:pPr algn="l" fontAlgn="base">
              <a:buFont typeface="+mj-lt"/>
              <a:buAutoNum type="arabicPeriod"/>
            </a:pPr>
            <a:r>
              <a:rPr lang="en-US" sz="3600" b="1" i="0" dirty="0">
                <a:effectLst/>
                <a:latin typeface="urw-din"/>
              </a:rPr>
              <a:t>Scopes –</a:t>
            </a:r>
            <a:r>
              <a:rPr lang="en-US" sz="3600" b="0" i="0" dirty="0">
                <a:effectLst/>
                <a:latin typeface="urw-din"/>
              </a:rPr>
              <a:t> Monocular device, </a:t>
            </a:r>
            <a:r>
              <a:rPr lang="en-US" sz="3600" b="0" i="0" dirty="0" err="1">
                <a:effectLst/>
                <a:latin typeface="urw-din"/>
              </a:rPr>
              <a:t>hanheld</a:t>
            </a:r>
            <a:r>
              <a:rPr lang="en-US" sz="3600" b="0" i="0" dirty="0">
                <a:effectLst/>
                <a:latin typeface="urw-din"/>
              </a:rPr>
              <a:t> or mounted on a weapon.</a:t>
            </a:r>
          </a:p>
          <a:p>
            <a:pPr algn="l" fontAlgn="base">
              <a:buFont typeface="+mj-lt"/>
              <a:buAutoNum type="arabicPeriod"/>
            </a:pPr>
            <a:r>
              <a:rPr lang="en-US" sz="3600" b="1" i="0" dirty="0">
                <a:effectLst/>
                <a:latin typeface="urw-din"/>
              </a:rPr>
              <a:t>Goggles –</a:t>
            </a:r>
            <a:r>
              <a:rPr lang="en-US" sz="3600" b="0" i="0" dirty="0">
                <a:effectLst/>
                <a:latin typeface="urw-din"/>
              </a:rPr>
              <a:t> Binocular and worn on the head.</a:t>
            </a:r>
          </a:p>
          <a:p>
            <a:pPr algn="l" fontAlgn="base">
              <a:buFont typeface="+mj-lt"/>
              <a:buAutoNum type="arabicPeriod"/>
            </a:pPr>
            <a:r>
              <a:rPr lang="en-US" sz="3600" b="1" i="0" dirty="0">
                <a:effectLst/>
                <a:latin typeface="urw-din"/>
              </a:rPr>
              <a:t>Cameras –</a:t>
            </a:r>
            <a:r>
              <a:rPr lang="en-US" sz="3600" b="0" i="0" dirty="0">
                <a:effectLst/>
                <a:latin typeface="urw-din"/>
              </a:rPr>
              <a:t> Used for capturing images/ recording videos.</a:t>
            </a:r>
          </a:p>
        </p:txBody>
      </p:sp>
      <p:pic>
        <p:nvPicPr>
          <p:cNvPr id="7" name="Picture 6" descr="20 Things You Need to Know About Night Vision - Technology - POLICE Magazine">
            <a:extLst>
              <a:ext uri="{FF2B5EF4-FFF2-40B4-BE49-F238E27FC236}">
                <a16:creationId xmlns:a16="http://schemas.microsoft.com/office/drawing/2014/main" id="{90B7AF46-E80E-4729-9C3D-C4A3BF6414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1343" y="4404916"/>
            <a:ext cx="3224656" cy="22572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95180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ow Night Vision Works | HowStuffWorks">
            <a:extLst>
              <a:ext uri="{FF2B5EF4-FFF2-40B4-BE49-F238E27FC236}">
                <a16:creationId xmlns:a16="http://schemas.microsoft.com/office/drawing/2014/main" id="{BB7D1EC2-5F86-4EA7-BF08-95AE7DBFEED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07" r="13065" b="-1"/>
          <a:stretch/>
        </p:blipFill>
        <p:spPr bwMode="auto">
          <a:xfrm>
            <a:off x="0" y="-103368"/>
            <a:ext cx="12191999" cy="696136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76BF84A-1CA1-44C2-9542-D88C566A7F5D}"/>
              </a:ext>
            </a:extLst>
          </p:cNvPr>
          <p:cNvSpPr txBox="1"/>
          <p:nvPr/>
        </p:nvSpPr>
        <p:spPr>
          <a:xfrm>
            <a:off x="2419848" y="1130547"/>
            <a:ext cx="9772152" cy="2246769"/>
          </a:xfrm>
          <a:prstGeom prst="rect">
            <a:avLst/>
          </a:prstGeom>
          <a:noFill/>
        </p:spPr>
        <p:txBody>
          <a:bodyPr wrap="square">
            <a:spAutoFit/>
          </a:bodyPr>
          <a:lstStyle/>
          <a:p>
            <a:r>
              <a:rPr lang="en-US" sz="2800" b="0" i="0" dirty="0">
                <a:effectLst/>
                <a:latin typeface="Times New Roman" panose="02020603050405020304" pitchFamily="18" charset="0"/>
              </a:rPr>
              <a:t>Although the term ``night vision'' currently encompasses three distinct technologies, it is the evolution of image intensification technology that first made devices practical and widely used. Their success was the result of advancements in light amplification and resolution techniques.</a:t>
            </a:r>
            <a:endParaRPr lang="en-IN" sz="2800" dirty="0"/>
          </a:p>
        </p:txBody>
      </p:sp>
      <p:sp>
        <p:nvSpPr>
          <p:cNvPr id="6" name="TextBox 5">
            <a:extLst>
              <a:ext uri="{FF2B5EF4-FFF2-40B4-BE49-F238E27FC236}">
                <a16:creationId xmlns:a16="http://schemas.microsoft.com/office/drawing/2014/main" id="{4F1BEBB8-36DB-4BB5-B8C3-63A935176A4C}"/>
              </a:ext>
            </a:extLst>
          </p:cNvPr>
          <p:cNvSpPr txBox="1"/>
          <p:nvPr/>
        </p:nvSpPr>
        <p:spPr>
          <a:xfrm>
            <a:off x="5253164" y="225664"/>
            <a:ext cx="6158284" cy="523220"/>
          </a:xfrm>
          <a:prstGeom prst="rect">
            <a:avLst/>
          </a:prstGeom>
          <a:noFill/>
        </p:spPr>
        <p:txBody>
          <a:bodyPr wrap="square">
            <a:spAutoFit/>
          </a:bodyPr>
          <a:lstStyle/>
          <a:p>
            <a:pPr algn="l"/>
            <a:r>
              <a:rPr lang="en-US" sz="2800" b="1" i="0" u="sng" dirty="0">
                <a:effectLst/>
                <a:latin typeface="Times New Roman" panose="02020603050405020304" pitchFamily="18" charset="0"/>
              </a:rPr>
              <a:t>Conclusion</a:t>
            </a:r>
          </a:p>
        </p:txBody>
      </p:sp>
    </p:spTree>
    <p:extLst>
      <p:ext uri="{BB962C8B-B14F-4D97-AF65-F5344CB8AC3E}">
        <p14:creationId xmlns:p14="http://schemas.microsoft.com/office/powerpoint/2010/main" val="263811030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23</TotalTime>
  <Words>569</Words>
  <Application>Microsoft Office PowerPoint</Application>
  <PresentationFormat>Widescreen</PresentationFormat>
  <Paragraphs>14</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Lato</vt:lpstr>
      <vt:lpstr>Times New Roman</vt:lpstr>
      <vt:lpstr>Tw Cen MT</vt:lpstr>
      <vt:lpstr>urw-din</vt:lpstr>
      <vt:lpstr>Circuit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mayank chaudhary</dc:creator>
  <cp:lastModifiedBy>mayank chaudhary</cp:lastModifiedBy>
  <cp:revision>2</cp:revision>
  <dcterms:created xsi:type="dcterms:W3CDTF">2021-12-09T12:18:41Z</dcterms:created>
  <dcterms:modified xsi:type="dcterms:W3CDTF">2021-12-11T19:19:19Z</dcterms:modified>
</cp:coreProperties>
</file>